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inary to Gray Converter" id="{FC96B40B-AD34-5D06-16CF-FAE0D3829394}">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1695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Introduce the project: a combinational circuit that converts a binary number into Gray code using XOR gates, built and simulated in Logisim.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Gray code was designed so that only one bit changes between consecutive numbers. In ordinary binary, 011 to 100 flips three bits at once, which can cause glitches in hardware.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Walk down the Gray column: between any two consecutive rows exactly one bit changes. For example 0111 to 0101 to 0100.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whole converter is three XOR gates. G3 is just a wire from B3. Every other Gray bit is the XOR of two adjacent binary bits.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Built in Logisim: place four input pins, three XOR gates and four output pins. B3 goes straight to G3. Wire B3,B2 into the first gate, B2,B1 into the second and B1,B0 into the third. Use Poke to toggle inputs and watch the outputs.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B3 = 1 is copied straight to G3. Then 1 XOR 0 = 1, 0 XOR 1 = 1, and 1 XOR 1 = 0. So 1011 in binary becomes 1110 in Gray code. XOR outputs 1 only when its two inputs differ.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Rotary encoders are the classic example: with plain binary, a misaligned sensor could read a wildly wrong value at a transition. With Gray code the worst error is one step. The same property helps Karnaugh maps, ADCs and clock-domain crossing.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F2A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4754880" cy="155448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640080" y="3108960"/>
            <a:ext cx="4754880" cy="914400"/>
          </a:xfrm>
          <a:prstGeom prst="rect">
            <a:avLst/>
          </a:prstGeom>
          <a:noFill/>
          <a:ln/>
        </p:spPr>
        <p:txBody>
          <a:bodyPr wrap="square" rtlCol="0"/>
          <a:lstStyle>
            <a:lvl1pPr marL="0" indent="0" algn="l">
              <a:buNone/>
              <a:defRPr lang="en-US" sz="1800" dirty="0">
                <a:solidFill>
                  <a:schemeClr val="accent3"/>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4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4754880" cy="1554480"/>
          </a:xfrm>
          <a:prstGeom prst="rect">
            <a:avLst/>
          </a:prstGeom>
          <a:noFill/>
          <a:ln/>
        </p:spPr>
        <p:txBody>
          <a:bodyPr wrap="square" rtlCol="0" anchor="b"/>
          <a:lstStyle/>
          <a:p>
            <a:pPr marL="0" indent="0" algn="l">
              <a:buNone/>
            </a:pPr>
            <a:r>
              <a:rPr lang="en-US" sz="4000" b="1" dirty="0">
                <a:solidFill>
                  <a:schemeClr val="bg1"/>
                </a:solidFill>
                <a:latin typeface="Cambria" pitchFamily="34" charset="0"/>
                <a:ea typeface="Cambria" pitchFamily="34" charset="-122"/>
                <a:cs typeface="Cambria" pitchFamily="34" charset="-120"/>
              </a:rPr>
              <a:t>Binary to Gray Code Converter</a:t>
            </a:r>
            <a:endParaRPr lang="en-US" sz="4000" dirty="0"/>
          </a:p>
        </p:txBody>
      </p:sp>
      <p:sp>
        <p:nvSpPr>
          <p:cNvPr id="3" name="Text 0"/>
          <p:cNvSpPr>
            <a:spLocks noGrp="1"/>
          </p:cNvSpPr>
          <p:nvPr>
            <p:ph type="body" idx="101" hasCustomPrompt="1"/>
          </p:nvPr>
        </p:nvSpPr>
        <p:spPr>
          <a:xfrm>
            <a:off x="640080" y="3108960"/>
            <a:ext cx="4204294" cy="380027"/>
          </a:xfrm>
          <a:prstGeom prst="rect">
            <a:avLst/>
          </a:prstGeom>
          <a:noFill/>
          <a:ln/>
        </p:spPr>
        <p:txBody>
          <a:bodyPr wrap="square" rtlCol="0" anchor="t"/>
          <a:lstStyle/>
          <a:p>
            <a:pPr marL="0" indent="0" algn="l">
              <a:buNone/>
            </a:pPr>
            <a:r>
              <a:rPr lang="en-US" sz="1800" dirty="0">
                <a:solidFill>
                  <a:schemeClr val="accent3"/>
                </a:solidFill>
              </a:rPr>
              <a:t>Digital </a:t>
            </a:r>
            <a:r>
              <a:rPr lang="en-US" dirty="0"/>
              <a:t>Design and Computer Architecture</a:t>
            </a:r>
            <a:r>
              <a:rPr lang="en-US" sz="1800" dirty="0">
                <a:solidFill>
                  <a:schemeClr val="accent3"/>
                </a:solidFill>
              </a:rPr>
              <a:t> </a:t>
            </a:r>
            <a:endParaRPr lang="en-US" sz="1800" dirty="0"/>
          </a:p>
        </p:txBody>
      </p:sp>
      <p:sp>
        <p:nvSpPr>
          <p:cNvPr id="4" name="Visual card"/>
          <p:cNvSpPr/>
          <p:nvPr/>
        </p:nvSpPr>
        <p:spPr>
          <a:xfrm>
            <a:off x="5852160" y="1371600"/>
            <a:ext cx="2834640" cy="2651760"/>
          </a:xfrm>
          <a:prstGeom prst="roundRect">
            <a:avLst>
              <a:gd name="adj" fmla="val 5172"/>
            </a:avLst>
          </a:prstGeom>
          <a:solidFill>
            <a:schemeClr val="accent6"/>
          </a:solidFill>
          <a:ln/>
        </p:spPr>
        <p:txBody>
          <a:bodyPr/>
          <a:lstStyle/>
          <a:p>
            <a:endParaRPr lang="en-IN"/>
          </a:p>
        </p:txBody>
      </p:sp>
      <p:sp>
        <p:nvSpPr>
          <p:cNvPr id="6" name="Arrow label"/>
          <p:cNvSpPr txBox="1"/>
          <p:nvPr/>
        </p:nvSpPr>
        <p:spPr>
          <a:xfrm>
            <a:off x="5852160" y="2377439"/>
            <a:ext cx="2834640" cy="1111547"/>
          </a:xfrm>
          <a:prstGeom prst="rect">
            <a:avLst/>
          </a:prstGeom>
          <a:noFill/>
          <a:ln/>
        </p:spPr>
        <p:txBody>
          <a:bodyPr wrap="square" lIns="0" tIns="0" rIns="0" bIns="0" rtlCol="0" anchor="ctr"/>
          <a:lstStyle/>
          <a:p>
            <a:pPr marL="0" indent="0" algn="ctr">
              <a:buNone/>
            </a:pPr>
            <a:r>
              <a:rPr lang="en-US" sz="1400" dirty="0">
                <a:solidFill>
                  <a:schemeClr val="bg1"/>
                </a:solidFill>
              </a:rPr>
              <a:t>Vaishali</a:t>
            </a:r>
            <a:br>
              <a:rPr lang="en-US" sz="1400" dirty="0">
                <a:solidFill>
                  <a:schemeClr val="bg1"/>
                </a:solidFill>
              </a:rPr>
            </a:br>
            <a:r>
              <a:rPr lang="en-US" sz="1400" dirty="0">
                <a:solidFill>
                  <a:schemeClr val="bg1"/>
                </a:solidFill>
              </a:rPr>
              <a:t>Mahathi</a:t>
            </a:r>
          </a:p>
          <a:p>
            <a:pPr marL="0" indent="0" algn="ctr">
              <a:buNone/>
            </a:pPr>
            <a:r>
              <a:rPr lang="en-US" sz="1400" dirty="0">
                <a:solidFill>
                  <a:schemeClr val="bg1"/>
                </a:solidFill>
              </a:rPr>
              <a:t>Tridhama</a:t>
            </a:r>
          </a:p>
          <a:p>
            <a:pPr marL="0" indent="0" algn="ctr">
              <a:buNone/>
            </a:pPr>
            <a:r>
              <a:rPr lang="en-US" sz="1400" dirty="0">
                <a:solidFill>
                  <a:schemeClr val="bg1"/>
                </a:solidFill>
              </a:rPr>
              <a:t>Preetham</a:t>
            </a:r>
            <a:endParaRPr lang="en-US" sz="1400" dirty="0"/>
          </a:p>
        </p:txBody>
      </p:sp>
      <p:sp>
        <p:nvSpPr>
          <p:cNvPr id="7" name="Gray value"/>
          <p:cNvSpPr txBox="1"/>
          <p:nvPr/>
        </p:nvSpPr>
        <p:spPr>
          <a:xfrm>
            <a:off x="5897556" y="1554480"/>
            <a:ext cx="2834640" cy="822960"/>
          </a:xfrm>
          <a:prstGeom prst="rect">
            <a:avLst/>
          </a:prstGeom>
          <a:noFill/>
          <a:ln/>
        </p:spPr>
        <p:txBody>
          <a:bodyPr wrap="square" lIns="0" tIns="0" rIns="0" bIns="0" rtlCol="0" anchor="ctr"/>
          <a:lstStyle/>
          <a:p>
            <a:pPr marL="0" indent="0" algn="ctr">
              <a:buNone/>
            </a:pPr>
            <a:r>
              <a:rPr lang="en-US" sz="2400" b="1" dirty="0">
                <a:solidFill>
                  <a:schemeClr val="accent2"/>
                </a:solidFill>
                <a:latin typeface="Courier New" pitchFamily="34" charset="0"/>
                <a:cs typeface="Courier New" pitchFamily="34" charset="-120"/>
              </a:rPr>
              <a:t>Presented by:</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What is Gray Code?</a:t>
            </a:r>
            <a:endParaRPr lang="en-US" sz="3400" dirty="0"/>
          </a:p>
        </p:txBody>
      </p:sp>
      <p:sp>
        <p:nvSpPr>
          <p:cNvPr id="3" name="Definition"/>
          <p:cNvSpPr txBox="1"/>
          <p:nvPr/>
        </p:nvSpPr>
        <p:spPr>
          <a:xfrm>
            <a:off x="457200" y="1143000"/>
            <a:ext cx="4572000" cy="914400"/>
          </a:xfrm>
          <a:prstGeom prst="rect">
            <a:avLst/>
          </a:prstGeom>
          <a:noFill/>
          <a:ln/>
        </p:spPr>
        <p:txBody>
          <a:bodyPr wrap="square" lIns="0" tIns="0" rIns="0" bIns="0" rtlCol="0" anchor="t"/>
          <a:lstStyle/>
          <a:p>
            <a:pPr marL="0" indent="0">
              <a:buNone/>
            </a:pPr>
            <a:r>
              <a:rPr lang="en-US" sz="1600" dirty="0">
                <a:solidFill>
                  <a:schemeClr val="tx1"/>
                </a:solidFill>
              </a:rPr>
              <a:t>Gray code (reflected binary code) is a number system in which two successive values differ in exactly one bit.</a:t>
            </a:r>
            <a:endParaRPr lang="en-US" sz="1600" dirty="0"/>
          </a:p>
        </p:txBody>
      </p:sp>
      <p:sp>
        <p:nvSpPr>
          <p:cNvPr id="4" name="Badge 1"/>
          <p:cNvSpPr/>
          <p:nvPr/>
        </p:nvSpPr>
        <p:spPr>
          <a:xfrm>
            <a:off x="457200" y="2267712"/>
            <a:ext cx="502920" cy="502920"/>
          </a:xfrm>
          <a:prstGeom prst="ellipse">
            <a:avLst/>
          </a:prstGeom>
          <a:solidFill>
            <a:schemeClr val="accent1"/>
          </a:solidFill>
          <a:ln/>
        </p:spPr>
        <p:txBody>
          <a:bodyPr/>
          <a:lstStyle/>
          <a:p>
            <a:endParaRPr lang="en-IN"/>
          </a:p>
        </p:txBody>
      </p:sp>
      <p:sp>
        <p:nvSpPr>
          <p:cNvPr id="5" name="Badge text 1"/>
          <p:cNvSpPr txBox="1"/>
          <p:nvPr/>
        </p:nvSpPr>
        <p:spPr>
          <a:xfrm>
            <a:off x="457200" y="2267712"/>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Property 1"/>
          <p:cNvSpPr txBox="1"/>
          <p:nvPr/>
        </p:nvSpPr>
        <p:spPr>
          <a:xfrm>
            <a:off x="1143000" y="2194560"/>
            <a:ext cx="3931920" cy="685800"/>
          </a:xfrm>
          <a:prstGeom prst="rect">
            <a:avLst/>
          </a:prstGeom>
          <a:noFill/>
          <a:ln/>
        </p:spPr>
        <p:txBody>
          <a:bodyPr wrap="square" lIns="0" tIns="0" rIns="0" bIns="0" rtlCol="0" anchor="ctr"/>
          <a:lstStyle/>
          <a:p>
            <a:pPr marL="0" indent="0">
              <a:buNone/>
            </a:pPr>
            <a:r>
              <a:rPr lang="en-US" sz="1800" b="1" dirty="0">
                <a:solidFill>
                  <a:schemeClr val="tx2"/>
                </a:solidFill>
              </a:rPr>
              <a:t>One-bit change</a:t>
            </a:r>
            <a:endParaRPr lang="en-US" sz="1800" dirty="0"/>
          </a:p>
          <a:p>
            <a:pPr marL="0" indent="0">
              <a:buNone/>
            </a:pPr>
            <a:r>
              <a:rPr lang="en-US" sz="1400" dirty="0">
                <a:solidFill>
                  <a:schemeClr val="tx1"/>
                </a:solidFill>
              </a:rPr>
              <a:t>Each step flips a single bit position.</a:t>
            </a:r>
            <a:endParaRPr lang="en-US" sz="1800" dirty="0"/>
          </a:p>
        </p:txBody>
      </p:sp>
      <p:sp>
        <p:nvSpPr>
          <p:cNvPr id="7" name="Badge 2"/>
          <p:cNvSpPr/>
          <p:nvPr/>
        </p:nvSpPr>
        <p:spPr>
          <a:xfrm>
            <a:off x="457200" y="3136392"/>
            <a:ext cx="502920" cy="502920"/>
          </a:xfrm>
          <a:prstGeom prst="ellipse">
            <a:avLst/>
          </a:prstGeom>
          <a:solidFill>
            <a:schemeClr val="accent1"/>
          </a:solidFill>
          <a:ln/>
        </p:spPr>
        <p:txBody>
          <a:bodyPr/>
          <a:lstStyle/>
          <a:p>
            <a:endParaRPr lang="en-IN"/>
          </a:p>
        </p:txBody>
      </p:sp>
      <p:sp>
        <p:nvSpPr>
          <p:cNvPr id="8" name="Badge text 2"/>
          <p:cNvSpPr txBox="1"/>
          <p:nvPr/>
        </p:nvSpPr>
        <p:spPr>
          <a:xfrm>
            <a:off x="457200" y="3136392"/>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Property 2"/>
          <p:cNvSpPr txBox="1"/>
          <p:nvPr/>
        </p:nvSpPr>
        <p:spPr>
          <a:xfrm>
            <a:off x="1143000" y="3063240"/>
            <a:ext cx="3931920" cy="685800"/>
          </a:xfrm>
          <a:prstGeom prst="rect">
            <a:avLst/>
          </a:prstGeom>
          <a:noFill/>
          <a:ln/>
        </p:spPr>
        <p:txBody>
          <a:bodyPr wrap="square" lIns="0" tIns="0" rIns="0" bIns="0" rtlCol="0" anchor="ctr"/>
          <a:lstStyle/>
          <a:p>
            <a:pPr marL="0" indent="0">
              <a:buNone/>
            </a:pPr>
            <a:r>
              <a:rPr lang="en-US" sz="1800" b="1" dirty="0">
                <a:solidFill>
                  <a:schemeClr val="tx2"/>
                </a:solidFill>
              </a:rPr>
              <a:t>Unweighted</a:t>
            </a:r>
            <a:endParaRPr lang="en-US" sz="1800" dirty="0"/>
          </a:p>
          <a:p>
            <a:pPr marL="0" indent="0">
              <a:buNone/>
            </a:pPr>
            <a:r>
              <a:rPr lang="en-US" sz="1400" dirty="0">
                <a:solidFill>
                  <a:schemeClr val="tx1"/>
                </a:solidFill>
              </a:rPr>
              <a:t>Bit positions carry no fixed place value.</a:t>
            </a:r>
            <a:endParaRPr lang="en-US" sz="1800" dirty="0"/>
          </a:p>
        </p:txBody>
      </p:sp>
      <p:sp>
        <p:nvSpPr>
          <p:cNvPr id="10" name="Badge 3"/>
          <p:cNvSpPr/>
          <p:nvPr/>
        </p:nvSpPr>
        <p:spPr>
          <a:xfrm>
            <a:off x="457200" y="4005072"/>
            <a:ext cx="502920" cy="502920"/>
          </a:xfrm>
          <a:prstGeom prst="ellipse">
            <a:avLst/>
          </a:prstGeom>
          <a:solidFill>
            <a:schemeClr val="accent1"/>
          </a:solidFill>
          <a:ln/>
        </p:spPr>
        <p:txBody>
          <a:bodyPr/>
          <a:lstStyle/>
          <a:p>
            <a:endParaRPr lang="en-IN"/>
          </a:p>
        </p:txBody>
      </p:sp>
      <p:sp>
        <p:nvSpPr>
          <p:cNvPr id="11" name="Badge text 3"/>
          <p:cNvSpPr txBox="1"/>
          <p:nvPr/>
        </p:nvSpPr>
        <p:spPr>
          <a:xfrm>
            <a:off x="457200" y="4005072"/>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2" name="Property 3"/>
          <p:cNvSpPr txBox="1"/>
          <p:nvPr/>
        </p:nvSpPr>
        <p:spPr>
          <a:xfrm>
            <a:off x="1143000" y="3931920"/>
            <a:ext cx="3931920" cy="685800"/>
          </a:xfrm>
          <a:prstGeom prst="rect">
            <a:avLst/>
          </a:prstGeom>
          <a:noFill/>
          <a:ln/>
        </p:spPr>
        <p:txBody>
          <a:bodyPr wrap="square" lIns="0" tIns="0" rIns="0" bIns="0" rtlCol="0" anchor="ctr"/>
          <a:lstStyle/>
          <a:p>
            <a:pPr marL="0" indent="0">
              <a:buNone/>
            </a:pPr>
            <a:r>
              <a:rPr lang="en-US" sz="1800" b="1" dirty="0">
                <a:solidFill>
                  <a:schemeClr val="tx2"/>
                </a:solidFill>
              </a:rPr>
              <a:t>Cyclic</a:t>
            </a:r>
            <a:endParaRPr lang="en-US" sz="1800" dirty="0"/>
          </a:p>
          <a:p>
            <a:pPr marL="0" indent="0">
              <a:buNone/>
            </a:pPr>
            <a:r>
              <a:rPr lang="en-US" sz="1400" dirty="0">
                <a:solidFill>
                  <a:schemeClr val="tx1"/>
                </a:solidFill>
              </a:rPr>
              <a:t>The last code differs from the first by one bit.</a:t>
            </a:r>
            <a:endParaRPr lang="en-US" sz="1800" dirty="0"/>
          </a:p>
        </p:txBody>
      </p:sp>
      <p:sp>
        <p:nvSpPr>
          <p:cNvPr id="13" name="Sequence card"/>
          <p:cNvSpPr/>
          <p:nvPr/>
        </p:nvSpPr>
        <p:spPr>
          <a:xfrm>
            <a:off x="5440680" y="1143000"/>
            <a:ext cx="3246120" cy="3520440"/>
          </a:xfrm>
          <a:prstGeom prst="roundRect">
            <a:avLst>
              <a:gd name="adj" fmla="val 3380"/>
            </a:avLst>
          </a:prstGeom>
          <a:solidFill>
            <a:schemeClr val="tx2"/>
          </a:solidFill>
          <a:ln/>
        </p:spPr>
        <p:txBody>
          <a:bodyPr/>
          <a:lstStyle/>
          <a:p>
            <a:endParaRPr lang="en-IN"/>
          </a:p>
        </p:txBody>
      </p:sp>
      <p:sp>
        <p:nvSpPr>
          <p:cNvPr id="14" name="Sequence heading"/>
          <p:cNvSpPr txBox="1"/>
          <p:nvPr/>
        </p:nvSpPr>
        <p:spPr>
          <a:xfrm>
            <a:off x="5440680" y="1280160"/>
            <a:ext cx="3246120" cy="365760"/>
          </a:xfrm>
          <a:prstGeom prst="rect">
            <a:avLst/>
          </a:prstGeom>
          <a:noFill/>
          <a:ln/>
        </p:spPr>
        <p:txBody>
          <a:bodyPr wrap="square" lIns="0" tIns="0" rIns="0" bIns="0" rtlCol="0" anchor="ctr"/>
          <a:lstStyle/>
          <a:p>
            <a:pPr marL="0" indent="0" algn="ctr">
              <a:buNone/>
            </a:pPr>
            <a:r>
              <a:rPr lang="en-US" sz="1600" b="1" dirty="0">
                <a:solidFill>
                  <a:schemeClr val="accent2"/>
                </a:solidFill>
              </a:rPr>
              <a:t>3-bit Gray sequence</a:t>
            </a:r>
            <a:endParaRPr lang="en-US" sz="1600" dirty="0"/>
          </a:p>
        </p:txBody>
      </p:sp>
      <p:sp>
        <p:nvSpPr>
          <p:cNvPr id="15" name="Sequence list"/>
          <p:cNvSpPr txBox="1"/>
          <p:nvPr/>
        </p:nvSpPr>
        <p:spPr>
          <a:xfrm>
            <a:off x="5760720" y="1737360"/>
            <a:ext cx="2606040" cy="2606040"/>
          </a:xfrm>
          <a:prstGeom prst="rect">
            <a:avLst/>
          </a:prstGeom>
          <a:noFill/>
          <a:ln/>
        </p:spPr>
        <p:txBody>
          <a:bodyPr wrap="square" lIns="0" tIns="0" rIns="0" bIns="0" rtlCol="0" anchor="t"/>
          <a:lstStyle/>
          <a:p>
            <a:pPr marL="0" indent="0" algn="ctr">
              <a:spcAft>
                <a:spcPts val="400"/>
              </a:spcAft>
              <a:buNone/>
            </a:pPr>
            <a:r>
              <a:rPr lang="en-US" sz="1700" dirty="0">
                <a:solidFill>
                  <a:schemeClr val="accent3"/>
                </a:solidFill>
                <a:latin typeface="Courier New" pitchFamily="34" charset="0"/>
                <a:ea typeface="Courier New" pitchFamily="34" charset="-122"/>
                <a:cs typeface="Courier New" pitchFamily="34" charset="-120"/>
              </a:rPr>
              <a:t>0   </a:t>
            </a:r>
            <a:r>
              <a:rPr lang="en-US" sz="1700" dirty="0">
                <a:solidFill>
                  <a:schemeClr val="bg1"/>
                </a:solidFill>
                <a:latin typeface="Courier New" pitchFamily="34" charset="0"/>
                <a:ea typeface="Courier New" pitchFamily="34" charset="-122"/>
                <a:cs typeface="Courier New" pitchFamily="34" charset="-120"/>
              </a:rPr>
              <a:t>000</a:t>
            </a:r>
            <a:endParaRPr lang="en-US" sz="1700" dirty="0"/>
          </a:p>
          <a:p>
            <a:pPr marL="0" indent="0" algn="ctr">
              <a:spcAft>
                <a:spcPts val="400"/>
              </a:spcAft>
              <a:buNone/>
            </a:pPr>
            <a:r>
              <a:rPr lang="en-US" sz="1700" dirty="0">
                <a:solidFill>
                  <a:schemeClr val="accent3"/>
                </a:solidFill>
                <a:latin typeface="Courier New" pitchFamily="34" charset="0"/>
                <a:ea typeface="Courier New" pitchFamily="34" charset="-122"/>
                <a:cs typeface="Courier New" pitchFamily="34" charset="-120"/>
              </a:rPr>
              <a:t>1   </a:t>
            </a:r>
            <a:r>
              <a:rPr lang="en-US" sz="1700" dirty="0">
                <a:solidFill>
                  <a:schemeClr val="bg1"/>
                </a:solidFill>
                <a:latin typeface="Courier New" pitchFamily="34" charset="0"/>
                <a:ea typeface="Courier New" pitchFamily="34" charset="-122"/>
                <a:cs typeface="Courier New" pitchFamily="34" charset="-120"/>
              </a:rPr>
              <a:t>00</a:t>
            </a:r>
            <a:r>
              <a:rPr lang="en-US" sz="1700" b="1" dirty="0">
                <a:solidFill>
                  <a:schemeClr val="accent2"/>
                </a:solidFill>
                <a:latin typeface="Courier New" pitchFamily="34" charset="0"/>
                <a:ea typeface="Courier New" pitchFamily="34" charset="-122"/>
                <a:cs typeface="Courier New" pitchFamily="34" charset="-120"/>
              </a:rPr>
              <a:t>1</a:t>
            </a:r>
            <a:endParaRPr lang="en-US" sz="1700" dirty="0"/>
          </a:p>
          <a:p>
            <a:pPr marL="0" indent="0" algn="ctr">
              <a:spcAft>
                <a:spcPts val="400"/>
              </a:spcAft>
              <a:buNone/>
            </a:pPr>
            <a:r>
              <a:rPr lang="en-US" sz="1700" dirty="0">
                <a:solidFill>
                  <a:schemeClr val="accent3"/>
                </a:solidFill>
                <a:latin typeface="Courier New" pitchFamily="34" charset="0"/>
                <a:ea typeface="Courier New" pitchFamily="34" charset="-122"/>
                <a:cs typeface="Courier New" pitchFamily="34" charset="-120"/>
              </a:rPr>
              <a:t>2   </a:t>
            </a:r>
            <a:r>
              <a:rPr lang="en-US" sz="1700" dirty="0">
                <a:solidFill>
                  <a:schemeClr val="bg1"/>
                </a:solidFill>
                <a:latin typeface="Courier New" pitchFamily="34" charset="0"/>
                <a:ea typeface="Courier New" pitchFamily="34" charset="-122"/>
                <a:cs typeface="Courier New" pitchFamily="34" charset="-120"/>
              </a:rPr>
              <a:t>0</a:t>
            </a:r>
            <a:r>
              <a:rPr lang="en-US" sz="1700" b="1" dirty="0">
                <a:solidFill>
                  <a:schemeClr val="accent2"/>
                </a:solidFill>
                <a:latin typeface="Courier New" pitchFamily="34" charset="0"/>
                <a:ea typeface="Courier New" pitchFamily="34" charset="-122"/>
                <a:cs typeface="Courier New" pitchFamily="34" charset="-120"/>
              </a:rPr>
              <a:t>1</a:t>
            </a:r>
            <a:r>
              <a:rPr lang="en-US" sz="1700" dirty="0">
                <a:solidFill>
                  <a:schemeClr val="bg1"/>
                </a:solidFill>
                <a:latin typeface="Courier New" pitchFamily="34" charset="0"/>
                <a:ea typeface="Courier New" pitchFamily="34" charset="-122"/>
                <a:cs typeface="Courier New" pitchFamily="34" charset="-120"/>
              </a:rPr>
              <a:t>1</a:t>
            </a:r>
            <a:endParaRPr lang="en-US" sz="1700" dirty="0"/>
          </a:p>
          <a:p>
            <a:pPr marL="0" indent="0" algn="ctr">
              <a:spcAft>
                <a:spcPts val="400"/>
              </a:spcAft>
              <a:buNone/>
            </a:pPr>
            <a:r>
              <a:rPr lang="en-US" sz="1700" dirty="0">
                <a:solidFill>
                  <a:schemeClr val="accent3"/>
                </a:solidFill>
                <a:latin typeface="Courier New" pitchFamily="34" charset="0"/>
                <a:ea typeface="Courier New" pitchFamily="34" charset="-122"/>
                <a:cs typeface="Courier New" pitchFamily="34" charset="-120"/>
              </a:rPr>
              <a:t>3   </a:t>
            </a:r>
            <a:r>
              <a:rPr lang="en-US" sz="1700" dirty="0">
                <a:solidFill>
                  <a:schemeClr val="bg1"/>
                </a:solidFill>
                <a:latin typeface="Courier New" pitchFamily="34" charset="0"/>
                <a:ea typeface="Courier New" pitchFamily="34" charset="-122"/>
                <a:cs typeface="Courier New" pitchFamily="34" charset="-120"/>
              </a:rPr>
              <a:t>01</a:t>
            </a:r>
            <a:r>
              <a:rPr lang="en-US" sz="1700" b="1" dirty="0">
                <a:solidFill>
                  <a:schemeClr val="accent2"/>
                </a:solidFill>
                <a:latin typeface="Courier New" pitchFamily="34" charset="0"/>
                <a:ea typeface="Courier New" pitchFamily="34" charset="-122"/>
                <a:cs typeface="Courier New" pitchFamily="34" charset="-120"/>
              </a:rPr>
              <a:t>0</a:t>
            </a:r>
            <a:endParaRPr lang="en-US" sz="1700" dirty="0"/>
          </a:p>
          <a:p>
            <a:pPr marL="0" indent="0" algn="ctr">
              <a:spcAft>
                <a:spcPts val="400"/>
              </a:spcAft>
              <a:buNone/>
            </a:pPr>
            <a:r>
              <a:rPr lang="en-US" sz="1700" dirty="0">
                <a:solidFill>
                  <a:schemeClr val="accent3"/>
                </a:solidFill>
                <a:latin typeface="Courier New" pitchFamily="34" charset="0"/>
                <a:ea typeface="Courier New" pitchFamily="34" charset="-122"/>
                <a:cs typeface="Courier New" pitchFamily="34" charset="-120"/>
              </a:rPr>
              <a:t>4   </a:t>
            </a:r>
            <a:r>
              <a:rPr lang="en-US" sz="1700" b="1" dirty="0">
                <a:solidFill>
                  <a:schemeClr val="accent2"/>
                </a:solidFill>
                <a:latin typeface="Courier New" pitchFamily="34" charset="0"/>
                <a:ea typeface="Courier New" pitchFamily="34" charset="-122"/>
                <a:cs typeface="Courier New" pitchFamily="34" charset="-120"/>
              </a:rPr>
              <a:t>1</a:t>
            </a:r>
            <a:r>
              <a:rPr lang="en-US" sz="1700" dirty="0">
                <a:solidFill>
                  <a:schemeClr val="bg1"/>
                </a:solidFill>
                <a:latin typeface="Courier New" pitchFamily="34" charset="0"/>
                <a:ea typeface="Courier New" pitchFamily="34" charset="-122"/>
                <a:cs typeface="Courier New" pitchFamily="34" charset="-120"/>
              </a:rPr>
              <a:t>10</a:t>
            </a:r>
            <a:endParaRPr lang="en-US" sz="1700" dirty="0"/>
          </a:p>
          <a:p>
            <a:pPr marL="0" indent="0" algn="ctr">
              <a:spcAft>
                <a:spcPts val="400"/>
              </a:spcAft>
              <a:buNone/>
            </a:pPr>
            <a:r>
              <a:rPr lang="en-US" sz="1700" dirty="0">
                <a:solidFill>
                  <a:schemeClr val="accent3"/>
                </a:solidFill>
                <a:latin typeface="Courier New" pitchFamily="34" charset="0"/>
                <a:ea typeface="Courier New" pitchFamily="34" charset="-122"/>
                <a:cs typeface="Courier New" pitchFamily="34" charset="-120"/>
              </a:rPr>
              <a:t>5   </a:t>
            </a:r>
            <a:r>
              <a:rPr lang="en-US" sz="1700" dirty="0">
                <a:solidFill>
                  <a:schemeClr val="bg1"/>
                </a:solidFill>
                <a:latin typeface="Courier New" pitchFamily="34" charset="0"/>
                <a:ea typeface="Courier New" pitchFamily="34" charset="-122"/>
                <a:cs typeface="Courier New" pitchFamily="34" charset="-120"/>
              </a:rPr>
              <a:t>11</a:t>
            </a:r>
            <a:r>
              <a:rPr lang="en-US" sz="1700" b="1" dirty="0">
                <a:solidFill>
                  <a:schemeClr val="accent2"/>
                </a:solidFill>
                <a:latin typeface="Courier New" pitchFamily="34" charset="0"/>
                <a:ea typeface="Courier New" pitchFamily="34" charset="-122"/>
                <a:cs typeface="Courier New" pitchFamily="34" charset="-120"/>
              </a:rPr>
              <a:t>1</a:t>
            </a:r>
            <a:endParaRPr lang="en-US" sz="1700" dirty="0"/>
          </a:p>
          <a:p>
            <a:pPr marL="0" indent="0" algn="ctr">
              <a:spcAft>
                <a:spcPts val="400"/>
              </a:spcAft>
              <a:buNone/>
            </a:pPr>
            <a:r>
              <a:rPr lang="en-US" sz="1700" dirty="0">
                <a:solidFill>
                  <a:schemeClr val="accent3"/>
                </a:solidFill>
                <a:latin typeface="Courier New" pitchFamily="34" charset="0"/>
                <a:ea typeface="Courier New" pitchFamily="34" charset="-122"/>
                <a:cs typeface="Courier New" pitchFamily="34" charset="-120"/>
              </a:rPr>
              <a:t>6   </a:t>
            </a:r>
            <a:r>
              <a:rPr lang="en-US" sz="1700" dirty="0">
                <a:solidFill>
                  <a:schemeClr val="bg1"/>
                </a:solidFill>
                <a:latin typeface="Courier New" pitchFamily="34" charset="0"/>
                <a:ea typeface="Courier New" pitchFamily="34" charset="-122"/>
                <a:cs typeface="Courier New" pitchFamily="34" charset="-120"/>
              </a:rPr>
              <a:t>1</a:t>
            </a:r>
            <a:r>
              <a:rPr lang="en-US" sz="1700" b="1" dirty="0">
                <a:solidFill>
                  <a:schemeClr val="accent2"/>
                </a:solidFill>
                <a:latin typeface="Courier New" pitchFamily="34" charset="0"/>
                <a:ea typeface="Courier New" pitchFamily="34" charset="-122"/>
                <a:cs typeface="Courier New" pitchFamily="34" charset="-120"/>
              </a:rPr>
              <a:t>0</a:t>
            </a:r>
            <a:r>
              <a:rPr lang="en-US" sz="1700" dirty="0">
                <a:solidFill>
                  <a:schemeClr val="bg1"/>
                </a:solidFill>
                <a:latin typeface="Courier New" pitchFamily="34" charset="0"/>
                <a:ea typeface="Courier New" pitchFamily="34" charset="-122"/>
                <a:cs typeface="Courier New" pitchFamily="34" charset="-120"/>
              </a:rPr>
              <a:t>1</a:t>
            </a:r>
            <a:endParaRPr lang="en-US" sz="1700" dirty="0"/>
          </a:p>
          <a:p>
            <a:pPr marL="0" indent="0" algn="ctr">
              <a:spcAft>
                <a:spcPts val="400"/>
              </a:spcAft>
              <a:buNone/>
            </a:pPr>
            <a:r>
              <a:rPr lang="en-US" sz="1700" dirty="0">
                <a:solidFill>
                  <a:schemeClr val="accent3"/>
                </a:solidFill>
                <a:latin typeface="Courier New" pitchFamily="34" charset="0"/>
                <a:ea typeface="Courier New" pitchFamily="34" charset="-122"/>
                <a:cs typeface="Courier New" pitchFamily="34" charset="-120"/>
              </a:rPr>
              <a:t>7   </a:t>
            </a:r>
            <a:r>
              <a:rPr lang="en-US" sz="1700" dirty="0">
                <a:solidFill>
                  <a:schemeClr val="bg1"/>
                </a:solidFill>
                <a:latin typeface="Courier New" pitchFamily="34" charset="0"/>
                <a:ea typeface="Courier New" pitchFamily="34" charset="-122"/>
                <a:cs typeface="Courier New" pitchFamily="34" charset="-120"/>
              </a:rPr>
              <a:t>10</a:t>
            </a:r>
            <a:r>
              <a:rPr lang="en-US" sz="1700" b="1" dirty="0">
                <a:solidFill>
                  <a:schemeClr val="accent2"/>
                </a:solidFill>
                <a:latin typeface="Courier New" pitchFamily="34" charset="0"/>
                <a:ea typeface="Courier New" pitchFamily="34" charset="-122"/>
                <a:cs typeface="Courier New" pitchFamily="34" charset="-120"/>
              </a:rPr>
              <a:t>0</a:t>
            </a:r>
            <a:endParaRPr lang="en-US" sz="1700" dirty="0"/>
          </a:p>
        </p:txBody>
      </p:sp>
      <p:sp>
        <p:nvSpPr>
          <p:cNvPr id="16" name="Legend"/>
          <p:cNvSpPr txBox="1"/>
          <p:nvPr/>
        </p:nvSpPr>
        <p:spPr>
          <a:xfrm>
            <a:off x="5440680" y="4297680"/>
            <a:ext cx="3246120" cy="274320"/>
          </a:xfrm>
          <a:prstGeom prst="rect">
            <a:avLst/>
          </a:prstGeom>
          <a:noFill/>
          <a:ln/>
        </p:spPr>
        <p:txBody>
          <a:bodyPr wrap="square" lIns="0" tIns="0" rIns="0" bIns="0" rtlCol="0" anchor="ctr"/>
          <a:lstStyle/>
          <a:p>
            <a:pPr marL="0" indent="0" algn="ctr">
              <a:buNone/>
            </a:pPr>
            <a:r>
              <a:rPr lang="en-US" sz="1100" dirty="0">
                <a:solidFill>
                  <a:schemeClr val="accent3"/>
                </a:solidFill>
              </a:rPr>
              <a:t>Amber = bit that changed</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Binary vs Gray Code</a:t>
            </a:r>
            <a:endParaRPr lang="en-US" sz="3400" dirty="0"/>
          </a:p>
        </p:txBody>
      </p:sp>
      <p:graphicFrame>
        <p:nvGraphicFramePr>
          <p:cNvPr id="4" name="Table 0-7"/>
          <p:cNvGraphicFramePr>
            <a:graphicFrameLocks noGrp="1"/>
          </p:cNvGraphicFramePr>
          <p:nvPr>
            <p:extLst>
              <p:ext uri="{D42A27DB-BD31-4B8C-83A1-F6EECF244321}">
                <p14:modId xmlns:p14="http://schemas.microsoft.com/office/powerpoint/2010/main" val="1579011935"/>
              </p:ext>
            </p:extLst>
          </p:nvPr>
        </p:nvGraphicFramePr>
        <p:xfrm>
          <a:off x="457200" y="1188720"/>
          <a:ext cx="402336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29184">
                <a:tc>
                  <a:txBody>
                    <a:bodyPr/>
                    <a:lstStyle/>
                    <a:p>
                      <a:pPr marL="0" indent="0" algn="ctr">
                        <a:buNone/>
                      </a:pPr>
                      <a:r>
                        <a:rPr lang="en-US" sz="1400" b="1" dirty="0">
                          <a:solidFill>
                            <a:schemeClr val="bg1"/>
                          </a:solidFill>
                        </a:rPr>
                        <a:t>Decimal</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accent1"/>
                    </a:solidFill>
                  </a:tcPr>
                </a:tc>
                <a:tc>
                  <a:txBody>
                    <a:bodyPr/>
                    <a:lstStyle/>
                    <a:p>
                      <a:pPr marL="0" indent="0" algn="ctr">
                        <a:buNone/>
                      </a:pPr>
                      <a:r>
                        <a:rPr lang="en-US" sz="1400" b="1" dirty="0">
                          <a:solidFill>
                            <a:schemeClr val="bg1"/>
                          </a:solidFill>
                        </a:rPr>
                        <a:t>Binary</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accent1"/>
                    </a:solidFill>
                  </a:tcPr>
                </a:tc>
                <a:tc>
                  <a:txBody>
                    <a:bodyPr/>
                    <a:lstStyle/>
                    <a:p>
                      <a:pPr marL="0" indent="0" algn="ctr">
                        <a:buNone/>
                      </a:pPr>
                      <a:r>
                        <a:rPr lang="en-US" sz="1400" b="1" dirty="0">
                          <a:solidFill>
                            <a:schemeClr val="bg1"/>
                          </a:solidFill>
                        </a:rPr>
                        <a:t>Gray</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29184">
                <a:tc>
                  <a:txBody>
                    <a:bodyPr/>
                    <a:lstStyle/>
                    <a:p>
                      <a:pPr marL="0" indent="0" algn="ctr">
                        <a:buNone/>
                      </a:pPr>
                      <a:r>
                        <a:rPr lang="en-US" sz="1400" dirty="0">
                          <a:solidFill>
                            <a:schemeClr val="tx1"/>
                          </a:solidFill>
                        </a:rPr>
                        <a:t>0</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0000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0000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29184">
                <a:tc>
                  <a:txBody>
                    <a:bodyPr/>
                    <a:lstStyle/>
                    <a:p>
                      <a:pPr marL="0" indent="0" algn="ctr">
                        <a:buNone/>
                      </a:pPr>
                      <a:r>
                        <a:rPr lang="en-US" sz="1400" dirty="0">
                          <a:solidFill>
                            <a:schemeClr val="tx1"/>
                          </a:solidFill>
                        </a:rPr>
                        <a:t>1</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0001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0001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29184">
                <a:tc>
                  <a:txBody>
                    <a:bodyPr/>
                    <a:lstStyle/>
                    <a:p>
                      <a:pPr marL="0" indent="0" algn="ctr">
                        <a:buNone/>
                      </a:pPr>
                      <a:r>
                        <a:rPr lang="en-US" sz="1400" dirty="0">
                          <a:solidFill>
                            <a:schemeClr val="tx1"/>
                          </a:solidFill>
                        </a:rPr>
                        <a:t>2</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0010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0011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29184">
                <a:tc>
                  <a:txBody>
                    <a:bodyPr/>
                    <a:lstStyle/>
                    <a:p>
                      <a:pPr marL="0" indent="0" algn="ctr">
                        <a:buNone/>
                      </a:pPr>
                      <a:r>
                        <a:rPr lang="en-US" sz="1400" dirty="0">
                          <a:solidFill>
                            <a:schemeClr val="tx1"/>
                          </a:solidFill>
                        </a:rPr>
                        <a:t>3</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0011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0010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29184">
                <a:tc>
                  <a:txBody>
                    <a:bodyPr/>
                    <a:lstStyle/>
                    <a:p>
                      <a:pPr marL="0" indent="0" algn="ctr">
                        <a:buNone/>
                      </a:pPr>
                      <a:r>
                        <a:rPr lang="en-US" sz="1400" dirty="0">
                          <a:solidFill>
                            <a:schemeClr val="tx1"/>
                          </a:solidFill>
                        </a:rPr>
                        <a:t>4</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0100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0110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29184">
                <a:tc>
                  <a:txBody>
                    <a:bodyPr/>
                    <a:lstStyle/>
                    <a:p>
                      <a:pPr marL="0" indent="0" algn="ctr">
                        <a:buNone/>
                      </a:pPr>
                      <a:r>
                        <a:rPr lang="en-US" sz="1400" dirty="0">
                          <a:solidFill>
                            <a:schemeClr val="tx1"/>
                          </a:solidFill>
                        </a:rPr>
                        <a:t>5</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0101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0111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29184">
                <a:tc>
                  <a:txBody>
                    <a:bodyPr/>
                    <a:lstStyle/>
                    <a:p>
                      <a:pPr marL="0" indent="0" algn="ctr">
                        <a:buNone/>
                      </a:pPr>
                      <a:r>
                        <a:rPr lang="en-US" sz="1400" dirty="0">
                          <a:solidFill>
                            <a:schemeClr val="tx1"/>
                          </a:solidFill>
                        </a:rPr>
                        <a:t>6</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0110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0101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329184">
                <a:tc>
                  <a:txBody>
                    <a:bodyPr/>
                    <a:lstStyle/>
                    <a:p>
                      <a:pPr marL="0" indent="0" algn="ctr">
                        <a:buNone/>
                      </a:pPr>
                      <a:r>
                        <a:rPr lang="en-US" sz="1400" dirty="0">
                          <a:solidFill>
                            <a:schemeClr val="tx1"/>
                          </a:solidFill>
                        </a:rPr>
                        <a:t>7</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0111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0100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bl>
          </a:graphicData>
        </a:graphic>
      </p:graphicFrame>
      <p:graphicFrame>
        <p:nvGraphicFramePr>
          <p:cNvPr id="7" name="Table 8-15"/>
          <p:cNvGraphicFramePr>
            <a:graphicFrameLocks noGrp="1"/>
          </p:cNvGraphicFramePr>
          <p:nvPr>
            <p:extLst>
              <p:ext uri="{D42A27DB-BD31-4B8C-83A1-F6EECF244321}">
                <p14:modId xmlns:p14="http://schemas.microsoft.com/office/powerpoint/2010/main" val="1579011935"/>
              </p:ext>
            </p:extLst>
          </p:nvPr>
        </p:nvGraphicFramePr>
        <p:xfrm>
          <a:off x="4663440" y="1188720"/>
          <a:ext cx="402336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29184">
                <a:tc>
                  <a:txBody>
                    <a:bodyPr/>
                    <a:lstStyle/>
                    <a:p>
                      <a:pPr marL="0" indent="0" algn="ctr">
                        <a:buNone/>
                      </a:pPr>
                      <a:r>
                        <a:rPr lang="en-US" sz="1400" b="1" dirty="0">
                          <a:solidFill>
                            <a:schemeClr val="bg1"/>
                          </a:solidFill>
                        </a:rPr>
                        <a:t>Decimal</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accent1"/>
                    </a:solidFill>
                  </a:tcPr>
                </a:tc>
                <a:tc>
                  <a:txBody>
                    <a:bodyPr/>
                    <a:lstStyle/>
                    <a:p>
                      <a:pPr marL="0" indent="0" algn="ctr">
                        <a:buNone/>
                      </a:pPr>
                      <a:r>
                        <a:rPr lang="en-US" sz="1400" b="1" dirty="0">
                          <a:solidFill>
                            <a:schemeClr val="bg1"/>
                          </a:solidFill>
                        </a:rPr>
                        <a:t>Binary</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accent1"/>
                    </a:solidFill>
                  </a:tcPr>
                </a:tc>
                <a:tc>
                  <a:txBody>
                    <a:bodyPr/>
                    <a:lstStyle/>
                    <a:p>
                      <a:pPr marL="0" indent="0" algn="ctr">
                        <a:buNone/>
                      </a:pPr>
                      <a:r>
                        <a:rPr lang="en-US" sz="1400" b="1" dirty="0">
                          <a:solidFill>
                            <a:schemeClr val="bg1"/>
                          </a:solidFill>
                        </a:rPr>
                        <a:t>Gray</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29184">
                <a:tc>
                  <a:txBody>
                    <a:bodyPr/>
                    <a:lstStyle/>
                    <a:p>
                      <a:pPr marL="0" indent="0" algn="ctr">
                        <a:buNone/>
                      </a:pPr>
                      <a:r>
                        <a:rPr lang="en-US" sz="1400" dirty="0">
                          <a:solidFill>
                            <a:schemeClr val="tx1"/>
                          </a:solidFill>
                        </a:rPr>
                        <a:t>8</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1000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1100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29184">
                <a:tc>
                  <a:txBody>
                    <a:bodyPr/>
                    <a:lstStyle/>
                    <a:p>
                      <a:pPr marL="0" indent="0" algn="ctr">
                        <a:buNone/>
                      </a:pPr>
                      <a:r>
                        <a:rPr lang="en-US" sz="1400" dirty="0">
                          <a:solidFill>
                            <a:schemeClr val="tx1"/>
                          </a:solidFill>
                        </a:rPr>
                        <a:t>9</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1001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1101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29184">
                <a:tc>
                  <a:txBody>
                    <a:bodyPr/>
                    <a:lstStyle/>
                    <a:p>
                      <a:pPr marL="0" indent="0" algn="ctr">
                        <a:buNone/>
                      </a:pPr>
                      <a:r>
                        <a:rPr lang="en-US" sz="1400" dirty="0">
                          <a:solidFill>
                            <a:schemeClr val="tx1"/>
                          </a:solidFill>
                        </a:rPr>
                        <a:t>10</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1010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1111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29184">
                <a:tc>
                  <a:txBody>
                    <a:bodyPr/>
                    <a:lstStyle/>
                    <a:p>
                      <a:pPr marL="0" indent="0" algn="ctr">
                        <a:buNone/>
                      </a:pPr>
                      <a:r>
                        <a:rPr lang="en-US" sz="1400" dirty="0">
                          <a:solidFill>
                            <a:schemeClr val="tx1"/>
                          </a:solidFill>
                        </a:rPr>
                        <a:t>11</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1011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1110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29184">
                <a:tc>
                  <a:txBody>
                    <a:bodyPr/>
                    <a:lstStyle/>
                    <a:p>
                      <a:pPr marL="0" indent="0" algn="ctr">
                        <a:buNone/>
                      </a:pPr>
                      <a:r>
                        <a:rPr lang="en-US" sz="1400" dirty="0">
                          <a:solidFill>
                            <a:schemeClr val="tx1"/>
                          </a:solidFill>
                        </a:rPr>
                        <a:t>12</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1100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1010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29184">
                <a:tc>
                  <a:txBody>
                    <a:bodyPr/>
                    <a:lstStyle/>
                    <a:p>
                      <a:pPr marL="0" indent="0" algn="ctr">
                        <a:buNone/>
                      </a:pPr>
                      <a:r>
                        <a:rPr lang="en-US" sz="1400" dirty="0">
                          <a:solidFill>
                            <a:schemeClr val="tx1"/>
                          </a:solidFill>
                        </a:rPr>
                        <a:t>13</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1101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1011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29184">
                <a:tc>
                  <a:txBody>
                    <a:bodyPr/>
                    <a:lstStyle/>
                    <a:p>
                      <a:pPr marL="0" indent="0" algn="ctr">
                        <a:buNone/>
                      </a:pPr>
                      <a:r>
                        <a:rPr lang="en-US" sz="1400" dirty="0">
                          <a:solidFill>
                            <a:schemeClr val="tx1"/>
                          </a:solidFill>
                        </a:rPr>
                        <a:t>14</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1110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1001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329184">
                <a:tc>
                  <a:txBody>
                    <a:bodyPr/>
                    <a:lstStyle/>
                    <a:p>
                      <a:pPr marL="0" indent="0" algn="ctr">
                        <a:buNone/>
                      </a:pPr>
                      <a:r>
                        <a:rPr lang="en-US" sz="1400" dirty="0">
                          <a:solidFill>
                            <a:schemeClr val="tx1"/>
                          </a:solidFill>
                        </a:rPr>
                        <a:t>15</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1111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2"/>
                          </a:solidFill>
                          <a:latin typeface="Courier New" pitchFamily="34" charset="0"/>
                          <a:ea typeface="Courier New" pitchFamily="34" charset="-122"/>
                          <a:cs typeface="Courier New" pitchFamily="34" charset="-120"/>
                        </a:rPr>
                        <a:t>1000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bl>
          </a:graphicData>
        </a:graphic>
      </p:graphicFrame>
      <p:sp>
        <p:nvSpPr>
          <p:cNvPr id="5" name="Formula bar"/>
          <p:cNvSpPr/>
          <p:nvPr/>
        </p:nvSpPr>
        <p:spPr>
          <a:xfrm>
            <a:off x="457200" y="4297680"/>
            <a:ext cx="8229600" cy="457200"/>
          </a:xfrm>
          <a:prstGeom prst="roundRect">
            <a:avLst>
              <a:gd name="adj" fmla="val 20000"/>
            </a:avLst>
          </a:prstGeom>
          <a:solidFill>
            <a:schemeClr val="tx2"/>
          </a:solidFill>
          <a:ln/>
        </p:spPr>
        <p:txBody>
          <a:bodyPr/>
          <a:lstStyle/>
          <a:p>
            <a:endParaRPr lang="en-IN"/>
          </a:p>
        </p:txBody>
      </p:sp>
      <p:sp>
        <p:nvSpPr>
          <p:cNvPr id="6" name="Formula text"/>
          <p:cNvSpPr txBox="1"/>
          <p:nvPr/>
        </p:nvSpPr>
        <p:spPr>
          <a:xfrm>
            <a:off x="457200" y="4297680"/>
            <a:ext cx="8229600" cy="457200"/>
          </a:xfrm>
          <a:prstGeom prst="rect">
            <a:avLst/>
          </a:prstGeom>
          <a:noFill/>
          <a:ln/>
        </p:spPr>
        <p:txBody>
          <a:bodyPr wrap="square" lIns="0" tIns="0" rIns="0" bIns="0" rtlCol="0" anchor="ctr"/>
          <a:lstStyle/>
          <a:p>
            <a:pPr marL="0" indent="0" algn="ctr">
              <a:buNone/>
            </a:pPr>
            <a:r>
              <a:rPr lang="en-US" sz="1600" dirty="0">
                <a:solidFill>
                  <a:schemeClr val="bg1"/>
                </a:solidFill>
              </a:rPr>
              <a:t>Gray = Binary </a:t>
            </a:r>
            <a:r>
              <a:rPr lang="en-US" sz="1600" b="1" dirty="0">
                <a:solidFill>
                  <a:schemeClr val="accent2"/>
                </a:solidFill>
              </a:rPr>
              <a:t>XOR</a:t>
            </a:r>
            <a:r>
              <a:rPr lang="en-US" sz="1600" dirty="0">
                <a:solidFill>
                  <a:schemeClr val="bg1"/>
                </a:solidFill>
              </a:rPr>
              <a:t> (Binary shifted right by 1)</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Conversion Logic</a:t>
            </a:r>
            <a:endParaRPr lang="en-US" sz="3400" dirty="0"/>
          </a:p>
        </p:txBody>
      </p:sp>
      <p:sp>
        <p:nvSpPr>
          <p:cNvPr id="3" name="Step card 1"/>
          <p:cNvSpPr/>
          <p:nvPr/>
        </p:nvSpPr>
        <p:spPr>
          <a:xfrm>
            <a:off x="457200" y="1188720"/>
            <a:ext cx="4206240" cy="1005840"/>
          </a:xfrm>
          <a:prstGeom prst="roundRect">
            <a:avLst>
              <a:gd name="adj" fmla="val 9091"/>
            </a:avLst>
          </a:prstGeom>
          <a:solidFill>
            <a:schemeClr val="bg2"/>
          </a:solidFill>
          <a:ln/>
        </p:spPr>
        <p:txBody>
          <a:bodyPr/>
          <a:lstStyle/>
          <a:p>
            <a:endParaRPr lang="en-IN"/>
          </a:p>
        </p:txBody>
      </p:sp>
      <p:sp>
        <p:nvSpPr>
          <p:cNvPr id="4" name="Step badge 1"/>
          <p:cNvSpPr/>
          <p:nvPr/>
        </p:nvSpPr>
        <p:spPr>
          <a:xfrm>
            <a:off x="640080" y="1444752"/>
            <a:ext cx="502920" cy="502920"/>
          </a:xfrm>
          <a:prstGeom prst="ellipse">
            <a:avLst/>
          </a:prstGeom>
          <a:solidFill>
            <a:schemeClr val="accent1"/>
          </a:solidFill>
          <a:ln/>
        </p:spPr>
        <p:txBody>
          <a:bodyPr/>
          <a:lstStyle/>
          <a:p>
            <a:endParaRPr lang="en-IN"/>
          </a:p>
        </p:txBody>
      </p:sp>
      <p:sp>
        <p:nvSpPr>
          <p:cNvPr id="5" name="Step number 1"/>
          <p:cNvSpPr txBox="1"/>
          <p:nvPr/>
        </p:nvSpPr>
        <p:spPr>
          <a:xfrm>
            <a:off x="640080" y="1444752"/>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Step text 1"/>
          <p:cNvSpPr txBox="1"/>
          <p:nvPr/>
        </p:nvSpPr>
        <p:spPr>
          <a:xfrm>
            <a:off x="1325880" y="1280160"/>
            <a:ext cx="3246120" cy="822960"/>
          </a:xfrm>
          <a:prstGeom prst="rect">
            <a:avLst/>
          </a:prstGeom>
          <a:noFill/>
          <a:ln/>
        </p:spPr>
        <p:txBody>
          <a:bodyPr wrap="square" lIns="0" tIns="0" rIns="0" bIns="0" rtlCol="0" anchor="ctr"/>
          <a:lstStyle/>
          <a:p>
            <a:pPr marL="0" indent="0">
              <a:buNone/>
            </a:pPr>
            <a:r>
              <a:rPr lang="en-US" sz="1800" b="1" dirty="0">
                <a:solidFill>
                  <a:schemeClr val="tx2"/>
                </a:solidFill>
              </a:rPr>
              <a:t>Copy the MSB</a:t>
            </a:r>
            <a:endParaRPr lang="en-US" sz="1800" dirty="0"/>
          </a:p>
          <a:p>
            <a:pPr marL="0" indent="0">
              <a:buNone/>
            </a:pPr>
            <a:r>
              <a:rPr lang="en-US" sz="1400" dirty="0">
                <a:solidFill>
                  <a:schemeClr val="tx1"/>
                </a:solidFill>
              </a:rPr>
              <a:t>G3 = B3. The top bit is unchanged.</a:t>
            </a:r>
            <a:endParaRPr lang="en-US" sz="1800" dirty="0"/>
          </a:p>
        </p:txBody>
      </p:sp>
      <p:sp>
        <p:nvSpPr>
          <p:cNvPr id="7" name="Step card 2"/>
          <p:cNvSpPr/>
          <p:nvPr/>
        </p:nvSpPr>
        <p:spPr>
          <a:xfrm>
            <a:off x="457200" y="2377440"/>
            <a:ext cx="4206240" cy="1005840"/>
          </a:xfrm>
          <a:prstGeom prst="roundRect">
            <a:avLst>
              <a:gd name="adj" fmla="val 9091"/>
            </a:avLst>
          </a:prstGeom>
          <a:solidFill>
            <a:schemeClr val="bg2"/>
          </a:solidFill>
          <a:ln/>
        </p:spPr>
        <p:txBody>
          <a:bodyPr/>
          <a:lstStyle/>
          <a:p>
            <a:endParaRPr lang="en-IN"/>
          </a:p>
        </p:txBody>
      </p:sp>
      <p:sp>
        <p:nvSpPr>
          <p:cNvPr id="8" name="Step badge 2"/>
          <p:cNvSpPr/>
          <p:nvPr/>
        </p:nvSpPr>
        <p:spPr>
          <a:xfrm>
            <a:off x="640080" y="2633472"/>
            <a:ext cx="502920" cy="502920"/>
          </a:xfrm>
          <a:prstGeom prst="ellipse">
            <a:avLst/>
          </a:prstGeom>
          <a:solidFill>
            <a:schemeClr val="accent1"/>
          </a:solidFill>
          <a:ln/>
        </p:spPr>
        <p:txBody>
          <a:bodyPr/>
          <a:lstStyle/>
          <a:p>
            <a:endParaRPr lang="en-IN"/>
          </a:p>
        </p:txBody>
      </p:sp>
      <p:sp>
        <p:nvSpPr>
          <p:cNvPr id="9" name="Step number 2"/>
          <p:cNvSpPr txBox="1"/>
          <p:nvPr/>
        </p:nvSpPr>
        <p:spPr>
          <a:xfrm>
            <a:off x="640080" y="2633472"/>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Step text 2"/>
          <p:cNvSpPr txBox="1"/>
          <p:nvPr/>
        </p:nvSpPr>
        <p:spPr>
          <a:xfrm>
            <a:off x="1325880" y="2468880"/>
            <a:ext cx="3246120" cy="822960"/>
          </a:xfrm>
          <a:prstGeom prst="rect">
            <a:avLst/>
          </a:prstGeom>
          <a:noFill/>
          <a:ln/>
        </p:spPr>
        <p:txBody>
          <a:bodyPr wrap="square" lIns="0" tIns="0" rIns="0" bIns="0" rtlCol="0" anchor="ctr"/>
          <a:lstStyle/>
          <a:p>
            <a:pPr marL="0" indent="0">
              <a:buNone/>
            </a:pPr>
            <a:r>
              <a:rPr lang="en-US" sz="1800" b="1" dirty="0">
                <a:solidFill>
                  <a:schemeClr val="tx2"/>
                </a:solidFill>
              </a:rPr>
              <a:t>XOR neighbouring bits</a:t>
            </a:r>
            <a:endParaRPr lang="en-US" sz="1800" dirty="0"/>
          </a:p>
          <a:p>
            <a:pPr marL="0" indent="0">
              <a:buNone/>
            </a:pPr>
            <a:r>
              <a:rPr lang="en-US" sz="1400" dirty="0">
                <a:solidFill>
                  <a:schemeClr val="tx1"/>
                </a:solidFill>
              </a:rPr>
              <a:t>Each remaining Gray bit = the binary bit XOR the bit to its left.</a:t>
            </a:r>
            <a:endParaRPr lang="en-US" sz="1800" dirty="0"/>
          </a:p>
        </p:txBody>
      </p:sp>
      <p:sp>
        <p:nvSpPr>
          <p:cNvPr id="11" name="Step card 3"/>
          <p:cNvSpPr/>
          <p:nvPr/>
        </p:nvSpPr>
        <p:spPr>
          <a:xfrm>
            <a:off x="457200" y="3566160"/>
            <a:ext cx="4206240" cy="1005840"/>
          </a:xfrm>
          <a:prstGeom prst="roundRect">
            <a:avLst>
              <a:gd name="adj" fmla="val 9091"/>
            </a:avLst>
          </a:prstGeom>
          <a:solidFill>
            <a:schemeClr val="bg2"/>
          </a:solidFill>
          <a:ln/>
        </p:spPr>
        <p:txBody>
          <a:bodyPr/>
          <a:lstStyle/>
          <a:p>
            <a:endParaRPr lang="en-IN"/>
          </a:p>
        </p:txBody>
      </p:sp>
      <p:sp>
        <p:nvSpPr>
          <p:cNvPr id="12" name="Step badge 3"/>
          <p:cNvSpPr/>
          <p:nvPr/>
        </p:nvSpPr>
        <p:spPr>
          <a:xfrm>
            <a:off x="640080" y="3822192"/>
            <a:ext cx="502920" cy="502920"/>
          </a:xfrm>
          <a:prstGeom prst="ellipse">
            <a:avLst/>
          </a:prstGeom>
          <a:solidFill>
            <a:schemeClr val="accent1"/>
          </a:solidFill>
          <a:ln/>
        </p:spPr>
        <p:txBody>
          <a:bodyPr/>
          <a:lstStyle/>
          <a:p>
            <a:endParaRPr lang="en-IN"/>
          </a:p>
        </p:txBody>
      </p:sp>
      <p:sp>
        <p:nvSpPr>
          <p:cNvPr id="13" name="Step number 3"/>
          <p:cNvSpPr txBox="1"/>
          <p:nvPr/>
        </p:nvSpPr>
        <p:spPr>
          <a:xfrm>
            <a:off x="640080" y="3822192"/>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4" name="Step text 3"/>
          <p:cNvSpPr txBox="1"/>
          <p:nvPr/>
        </p:nvSpPr>
        <p:spPr>
          <a:xfrm>
            <a:off x="1325880" y="3657600"/>
            <a:ext cx="3246120" cy="822960"/>
          </a:xfrm>
          <a:prstGeom prst="rect">
            <a:avLst/>
          </a:prstGeom>
          <a:noFill/>
          <a:ln/>
        </p:spPr>
        <p:txBody>
          <a:bodyPr wrap="square" lIns="0" tIns="0" rIns="0" bIns="0" rtlCol="0" anchor="ctr"/>
          <a:lstStyle/>
          <a:p>
            <a:pPr marL="0" indent="0">
              <a:buNone/>
            </a:pPr>
            <a:r>
              <a:rPr lang="en-US" sz="1800" b="1" dirty="0">
                <a:solidFill>
                  <a:schemeClr val="tx2"/>
                </a:solidFill>
              </a:rPr>
              <a:t>Read the result</a:t>
            </a:r>
            <a:endParaRPr lang="en-US" sz="1800" dirty="0"/>
          </a:p>
          <a:p>
            <a:pPr marL="0" indent="0">
              <a:buNone/>
            </a:pPr>
            <a:r>
              <a:rPr lang="en-US" sz="1400" dirty="0">
                <a:solidFill>
                  <a:schemeClr val="tx1"/>
                </a:solidFill>
              </a:rPr>
              <a:t>G3 G2 G1 G0 is the 4-bit Gray code.</a:t>
            </a:r>
            <a:endParaRPr lang="en-US" sz="1800" dirty="0"/>
          </a:p>
        </p:txBody>
      </p:sp>
      <p:sp>
        <p:nvSpPr>
          <p:cNvPr id="15" name="Truth table heading"/>
          <p:cNvSpPr txBox="1"/>
          <p:nvPr/>
        </p:nvSpPr>
        <p:spPr>
          <a:xfrm>
            <a:off x="5029200" y="1143000"/>
            <a:ext cx="3657600" cy="274320"/>
          </a:xfrm>
          <a:prstGeom prst="rect">
            <a:avLst/>
          </a:prstGeom>
          <a:noFill/>
          <a:ln/>
        </p:spPr>
        <p:txBody>
          <a:bodyPr wrap="square" lIns="0" tIns="0" rIns="0" bIns="0" rtlCol="0" anchor="ctr"/>
          <a:lstStyle/>
          <a:p>
            <a:pPr marL="0" indent="0">
              <a:buNone/>
            </a:pPr>
            <a:r>
              <a:rPr lang="en-US" sz="1600" b="1" dirty="0">
                <a:solidFill>
                  <a:schemeClr val="tx2"/>
                </a:solidFill>
              </a:rPr>
              <a:t>XOR truth table</a:t>
            </a:r>
            <a:endParaRPr lang="en-US" sz="1600" dirty="0"/>
          </a:p>
        </p:txBody>
      </p:sp>
      <p:graphicFrame>
        <p:nvGraphicFramePr>
          <p:cNvPr id="16" name="XOR truth table"/>
          <p:cNvGraphicFramePr>
            <a:graphicFrameLocks noGrp="1"/>
          </p:cNvGraphicFramePr>
          <p:nvPr>
            <p:extLst>
              <p:ext uri="{D42A27DB-BD31-4B8C-83A1-F6EECF244321}">
                <p14:modId xmlns:p14="http://schemas.microsoft.com/office/powerpoint/2010/main" val="1579011935"/>
              </p:ext>
            </p:extLst>
          </p:nvPr>
        </p:nvGraphicFramePr>
        <p:xfrm>
          <a:off x="5029200" y="1463040"/>
          <a:ext cx="3657600" cy="1584960"/>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74320">
                <a:tc>
                  <a:txBody>
                    <a:bodyPr/>
                    <a:lstStyle/>
                    <a:p>
                      <a:pPr marL="0" indent="0" algn="ctr">
                        <a:buNone/>
                      </a:pPr>
                      <a:r>
                        <a:rPr lang="en-US" sz="1400" b="1" dirty="0">
                          <a:solidFill>
                            <a:schemeClr val="bg1"/>
                          </a:solidFill>
                        </a:rPr>
                        <a:t>A</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accent1"/>
                    </a:solidFill>
                  </a:tcPr>
                </a:tc>
                <a:tc>
                  <a:txBody>
                    <a:bodyPr/>
                    <a:lstStyle/>
                    <a:p>
                      <a:pPr marL="0" indent="0" algn="ctr">
                        <a:buNone/>
                      </a:pPr>
                      <a:r>
                        <a:rPr lang="en-US" sz="1400" b="1" dirty="0">
                          <a:solidFill>
                            <a:schemeClr val="bg1"/>
                          </a:solidFill>
                        </a:rPr>
                        <a:t>B</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accent1"/>
                    </a:solidFill>
                  </a:tcPr>
                </a:tc>
                <a:tc>
                  <a:txBody>
                    <a:bodyPr/>
                    <a:lstStyle/>
                    <a:p>
                      <a:pPr marL="0" indent="0" algn="ctr">
                        <a:buNone/>
                      </a:pPr>
                      <a:r>
                        <a:rPr lang="en-US" sz="1400" b="1" dirty="0">
                          <a:solidFill>
                            <a:schemeClr val="bg1"/>
                          </a:solidFill>
                        </a:rPr>
                        <a:t>A ⊕ B</a:t>
                      </a:r>
                      <a:endParaRPr lang="en-US" sz="1400" dirty="0"/>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274320">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274320">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274320">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274320">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dirty="0">
                          <a:solidFill>
                            <a:schemeClr val="tx1"/>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tcPr>
                </a:tc>
                <a:tc>
                  <a:txBody>
                    <a:bodyPr/>
                    <a:lstStyle/>
                    <a:p>
                      <a:pPr marL="0" indent="0" algn="ctr">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anchor="ctr">
                    <a:lnL w="9525" cap="flat" cmpd="sng" algn="ctr">
                      <a:solidFill>
                        <a:srgbClr val="CFE0DF"/>
                      </a:solidFill>
                      <a:prstDash val="solid"/>
                      <a:round/>
                      <a:headEnd type="none" w="med" len="med"/>
                      <a:tailEnd type="none" w="med" len="med"/>
                    </a:lnL>
                    <a:lnR w="9525" cap="flat" cmpd="sng" algn="ctr">
                      <a:solidFill>
                        <a:srgbClr val="CFE0DF"/>
                      </a:solidFill>
                      <a:prstDash val="solid"/>
                      <a:round/>
                      <a:headEnd type="none" w="med" len="med"/>
                      <a:tailEnd type="none" w="med" len="med"/>
                    </a:lnR>
                    <a:lnT w="9525" cap="flat" cmpd="sng" algn="ctr">
                      <a:solidFill>
                        <a:srgbClr val="CFE0DF"/>
                      </a:solidFill>
                      <a:prstDash val="solid"/>
                      <a:round/>
                      <a:headEnd type="none" w="med" len="med"/>
                      <a:tailEnd type="none" w="med" len="med"/>
                    </a:lnT>
                    <a:lnB w="9525" cap="flat" cmpd="sng" algn="ctr">
                      <a:solidFill>
                        <a:srgbClr val="CFE0D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17" name="Equation card"/>
          <p:cNvSpPr/>
          <p:nvPr/>
        </p:nvSpPr>
        <p:spPr>
          <a:xfrm>
            <a:off x="5029200" y="3017520"/>
            <a:ext cx="3657600" cy="1691640"/>
          </a:xfrm>
          <a:prstGeom prst="roundRect">
            <a:avLst>
              <a:gd name="adj" fmla="val 6486"/>
            </a:avLst>
          </a:prstGeom>
          <a:solidFill>
            <a:schemeClr val="tx2"/>
          </a:solidFill>
          <a:ln/>
        </p:spPr>
        <p:txBody>
          <a:bodyPr/>
          <a:lstStyle/>
          <a:p>
            <a:endParaRPr lang="en-IN"/>
          </a:p>
        </p:txBody>
      </p:sp>
      <p:sp>
        <p:nvSpPr>
          <p:cNvPr id="18" name="Equations"/>
          <p:cNvSpPr txBox="1"/>
          <p:nvPr/>
        </p:nvSpPr>
        <p:spPr>
          <a:xfrm>
            <a:off x="5029200" y="3017520"/>
            <a:ext cx="3657600" cy="1691640"/>
          </a:xfrm>
          <a:prstGeom prst="rect">
            <a:avLst/>
          </a:prstGeom>
          <a:noFill/>
          <a:ln/>
        </p:spPr>
        <p:txBody>
          <a:bodyPr wrap="square" lIns="0" tIns="0" rIns="0" bIns="0" rtlCol="0" anchor="ctr"/>
          <a:lstStyle/>
          <a:p>
            <a:pPr marL="0" indent="0" algn="ctr">
              <a:spcAft>
                <a:spcPts val="300"/>
              </a:spcAft>
              <a:buNone/>
            </a:pPr>
            <a:r>
              <a:rPr lang="en-US" sz="1800" dirty="0">
                <a:solidFill>
                  <a:schemeClr val="accent3"/>
                </a:solidFill>
                <a:latin typeface="Courier New" pitchFamily="34" charset="0"/>
                <a:ea typeface="Courier New" pitchFamily="34" charset="-122"/>
                <a:cs typeface="Courier New" pitchFamily="34" charset="-120"/>
              </a:rPr>
              <a:t>G3 = </a:t>
            </a:r>
            <a:r>
              <a:rPr lang="en-US" sz="1800" b="1" dirty="0">
                <a:solidFill>
                  <a:schemeClr val="bg1"/>
                </a:solidFill>
                <a:latin typeface="Courier New" pitchFamily="34" charset="0"/>
                <a:ea typeface="Courier New" pitchFamily="34" charset="-122"/>
                <a:cs typeface="Courier New" pitchFamily="34" charset="-120"/>
              </a:rPr>
              <a:t>B3</a:t>
            </a:r>
            <a:endParaRPr lang="en-US" sz="1800" dirty="0"/>
          </a:p>
          <a:p>
            <a:pPr marL="0" indent="0" algn="ctr">
              <a:spcAft>
                <a:spcPts val="300"/>
              </a:spcAft>
              <a:buNone/>
            </a:pPr>
            <a:r>
              <a:rPr lang="en-US" sz="1800" dirty="0">
                <a:solidFill>
                  <a:schemeClr val="accent3"/>
                </a:solidFill>
                <a:latin typeface="Courier New" pitchFamily="34" charset="0"/>
                <a:ea typeface="Courier New" pitchFamily="34" charset="-122"/>
                <a:cs typeface="Courier New" pitchFamily="34" charset="-120"/>
              </a:rPr>
              <a:t>G2 = </a:t>
            </a:r>
            <a:r>
              <a:rPr lang="en-US" sz="1800" b="1" dirty="0">
                <a:solidFill>
                  <a:schemeClr val="bg1"/>
                </a:solidFill>
                <a:latin typeface="Courier New" pitchFamily="34" charset="0"/>
                <a:ea typeface="Courier New" pitchFamily="34" charset="-122"/>
                <a:cs typeface="Courier New" pitchFamily="34" charset="-120"/>
              </a:rPr>
              <a:t>B3 ⊕ B2</a:t>
            </a:r>
            <a:endParaRPr lang="en-US" sz="1800" dirty="0"/>
          </a:p>
          <a:p>
            <a:pPr marL="0" indent="0" algn="ctr">
              <a:spcAft>
                <a:spcPts val="300"/>
              </a:spcAft>
              <a:buNone/>
            </a:pPr>
            <a:r>
              <a:rPr lang="en-US" sz="1800" dirty="0">
                <a:solidFill>
                  <a:schemeClr val="accent3"/>
                </a:solidFill>
                <a:latin typeface="Courier New" pitchFamily="34" charset="0"/>
                <a:ea typeface="Courier New" pitchFamily="34" charset="-122"/>
                <a:cs typeface="Courier New" pitchFamily="34" charset="-120"/>
              </a:rPr>
              <a:t>G1 = </a:t>
            </a:r>
            <a:r>
              <a:rPr lang="en-US" sz="1800" b="1" dirty="0">
                <a:solidFill>
                  <a:schemeClr val="bg1"/>
                </a:solidFill>
                <a:latin typeface="Courier New" pitchFamily="34" charset="0"/>
                <a:ea typeface="Courier New" pitchFamily="34" charset="-122"/>
                <a:cs typeface="Courier New" pitchFamily="34" charset="-120"/>
              </a:rPr>
              <a:t>B2 ⊕ B1</a:t>
            </a:r>
            <a:endParaRPr lang="en-US" sz="1800" dirty="0"/>
          </a:p>
          <a:p>
            <a:pPr marL="0" indent="0" algn="ctr">
              <a:spcAft>
                <a:spcPts val="300"/>
              </a:spcAft>
              <a:buNone/>
            </a:pPr>
            <a:r>
              <a:rPr lang="en-US" sz="1800" dirty="0">
                <a:solidFill>
                  <a:schemeClr val="accent3"/>
                </a:solidFill>
                <a:latin typeface="Courier New" pitchFamily="34" charset="0"/>
                <a:ea typeface="Courier New" pitchFamily="34" charset="-122"/>
                <a:cs typeface="Courier New" pitchFamily="34" charset="-120"/>
              </a:rPr>
              <a:t>G0 = </a:t>
            </a:r>
            <a:r>
              <a:rPr lang="en-US" sz="1800" b="1" dirty="0">
                <a:solidFill>
                  <a:schemeClr val="bg1"/>
                </a:solidFill>
                <a:latin typeface="Courier New" pitchFamily="34" charset="0"/>
                <a:ea typeface="Courier New" pitchFamily="34" charset="-122"/>
                <a:cs typeface="Courier New" pitchFamily="34" charset="-120"/>
              </a:rPr>
              <a:t>B1 ⊕ B0</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Circuit Design in Logisim</a:t>
            </a:r>
            <a:endParaRPr lang="en-US" sz="3400" dirty="0"/>
          </a:p>
        </p:txBody>
      </p:sp>
      <p:pic>
        <p:nvPicPr>
          <p:cNvPr id="3" name="Logisim circuit screenshot" descr="4-bit binary to Gray code converter circuit with three XOR gates"/>
          <p:cNvPicPr>
            <a:picLocks noChangeAspect="1"/>
          </p:cNvPicPr>
          <p:nvPr/>
        </p:nvPicPr>
        <p:blipFill>
          <a:blip r:embed="rId3"/>
          <a:stretch>
            <a:fillRect/>
          </a:stretch>
        </p:blipFill>
        <p:spPr>
          <a:xfrm>
            <a:off x="457200" y="1188720"/>
            <a:ext cx="5760720" cy="3236448"/>
          </a:xfrm>
          <a:prstGeom prst="rect">
            <a:avLst/>
          </a:prstGeom>
        </p:spPr>
      </p:pic>
      <p:sp>
        <p:nvSpPr>
          <p:cNvPr id="4" name="Circuit caption"/>
          <p:cNvSpPr txBox="1"/>
          <p:nvPr/>
        </p:nvSpPr>
        <p:spPr>
          <a:xfrm>
            <a:off x="457200" y="4498320"/>
            <a:ext cx="5760720" cy="274320"/>
          </a:xfrm>
          <a:prstGeom prst="rect">
            <a:avLst/>
          </a:prstGeom>
          <a:noFill/>
          <a:ln/>
        </p:spPr>
        <p:txBody>
          <a:bodyPr wrap="square" lIns="0" tIns="0" rIns="0" bIns="0" rtlCol="0" anchor="ctr"/>
          <a:lstStyle/>
          <a:p>
            <a:pPr marL="0" indent="0">
              <a:buNone/>
            </a:pPr>
            <a:r>
              <a:rPr lang="en-US" sz="1200" dirty="0">
                <a:solidFill>
                  <a:schemeClr val="accent5"/>
                </a:solidFill>
              </a:rPr>
              <a:t>Example: input 1011 gives output 1110</a:t>
            </a:r>
            <a:endParaRPr lang="en-US" sz="1200" dirty="0"/>
          </a:p>
        </p:txBody>
      </p:sp>
      <p:sp>
        <p:nvSpPr>
          <p:cNvPr id="5" name="Stat card 1"/>
          <p:cNvSpPr/>
          <p:nvPr/>
        </p:nvSpPr>
        <p:spPr>
          <a:xfrm>
            <a:off x="6492240" y="1188720"/>
            <a:ext cx="2194560" cy="1005840"/>
          </a:xfrm>
          <a:prstGeom prst="roundRect">
            <a:avLst>
              <a:gd name="adj" fmla="val 9091"/>
            </a:avLst>
          </a:prstGeom>
          <a:solidFill>
            <a:schemeClr val="bg2"/>
          </a:solidFill>
          <a:ln/>
        </p:spPr>
        <p:txBody>
          <a:bodyPr/>
          <a:lstStyle/>
          <a:p>
            <a:endParaRPr lang="en-IN"/>
          </a:p>
        </p:txBody>
      </p:sp>
      <p:sp>
        <p:nvSpPr>
          <p:cNvPr id="6" name="Stat number 1"/>
          <p:cNvSpPr txBox="1"/>
          <p:nvPr/>
        </p:nvSpPr>
        <p:spPr>
          <a:xfrm>
            <a:off x="6583680" y="1188720"/>
            <a:ext cx="731520" cy="1005840"/>
          </a:xfrm>
          <a:prstGeom prst="rect">
            <a:avLst/>
          </a:prstGeom>
          <a:noFill/>
          <a:ln/>
        </p:spPr>
        <p:txBody>
          <a:bodyPr wrap="square" lIns="0" tIns="0" rIns="0" bIns="0" rtlCol="0" anchor="ctr"/>
          <a:lstStyle/>
          <a:p>
            <a:pPr marL="0" indent="0" algn="ctr">
              <a:buNone/>
            </a:pPr>
            <a:r>
              <a:rPr lang="en-US" sz="3600" b="1" dirty="0">
                <a:solidFill>
                  <a:schemeClr val="accent1"/>
                </a:solidFill>
                <a:latin typeface="Cambria" pitchFamily="34" charset="0"/>
                <a:ea typeface="Cambria" pitchFamily="34" charset="-122"/>
                <a:cs typeface="Cambria" pitchFamily="34" charset="-120"/>
              </a:rPr>
              <a:t>4</a:t>
            </a:r>
            <a:endParaRPr lang="en-US" sz="3600" dirty="0"/>
          </a:p>
        </p:txBody>
      </p:sp>
      <p:sp>
        <p:nvSpPr>
          <p:cNvPr id="7" name="Stat label 1"/>
          <p:cNvSpPr txBox="1"/>
          <p:nvPr/>
        </p:nvSpPr>
        <p:spPr>
          <a:xfrm>
            <a:off x="7315200" y="1188720"/>
            <a:ext cx="1325880" cy="1005840"/>
          </a:xfrm>
          <a:prstGeom prst="rect">
            <a:avLst/>
          </a:prstGeom>
          <a:noFill/>
          <a:ln/>
        </p:spPr>
        <p:txBody>
          <a:bodyPr wrap="square" lIns="0" tIns="0" rIns="0" bIns="0" rtlCol="0" anchor="ctr"/>
          <a:lstStyle/>
          <a:p>
            <a:pPr marL="0" indent="0">
              <a:buNone/>
            </a:pPr>
            <a:r>
              <a:rPr lang="en-US" sz="1400" b="1" dirty="0">
                <a:solidFill>
                  <a:schemeClr val="tx2"/>
                </a:solidFill>
              </a:rPr>
              <a:t>Input pins</a:t>
            </a:r>
            <a:endParaRPr lang="en-US" sz="1400" dirty="0"/>
          </a:p>
          <a:p>
            <a:pPr marL="0" indent="0">
              <a:buNone/>
            </a:pPr>
            <a:r>
              <a:rPr lang="en-US" sz="1200" dirty="0">
                <a:solidFill>
                  <a:schemeClr val="tx1"/>
                </a:solidFill>
              </a:rPr>
              <a:t>B3 to B0</a:t>
            </a:r>
            <a:endParaRPr lang="en-US" sz="1400" dirty="0"/>
          </a:p>
        </p:txBody>
      </p:sp>
      <p:sp>
        <p:nvSpPr>
          <p:cNvPr id="8" name="Stat card 2"/>
          <p:cNvSpPr/>
          <p:nvPr/>
        </p:nvSpPr>
        <p:spPr>
          <a:xfrm>
            <a:off x="6492240" y="2377440"/>
            <a:ext cx="2194560" cy="1005840"/>
          </a:xfrm>
          <a:prstGeom prst="roundRect">
            <a:avLst>
              <a:gd name="adj" fmla="val 9091"/>
            </a:avLst>
          </a:prstGeom>
          <a:solidFill>
            <a:schemeClr val="bg2"/>
          </a:solidFill>
          <a:ln/>
        </p:spPr>
        <p:txBody>
          <a:bodyPr/>
          <a:lstStyle/>
          <a:p>
            <a:endParaRPr lang="en-IN"/>
          </a:p>
        </p:txBody>
      </p:sp>
      <p:sp>
        <p:nvSpPr>
          <p:cNvPr id="9" name="Stat number 2"/>
          <p:cNvSpPr txBox="1"/>
          <p:nvPr/>
        </p:nvSpPr>
        <p:spPr>
          <a:xfrm>
            <a:off x="6583680" y="2377440"/>
            <a:ext cx="731520" cy="1005840"/>
          </a:xfrm>
          <a:prstGeom prst="rect">
            <a:avLst/>
          </a:prstGeom>
          <a:noFill/>
          <a:ln/>
        </p:spPr>
        <p:txBody>
          <a:bodyPr wrap="square" lIns="0" tIns="0" rIns="0" bIns="0" rtlCol="0" anchor="ctr"/>
          <a:lstStyle/>
          <a:p>
            <a:pPr marL="0" indent="0" algn="ctr">
              <a:buNone/>
            </a:pPr>
            <a:r>
              <a:rPr lang="en-US" sz="3600" b="1" dirty="0">
                <a:solidFill>
                  <a:schemeClr val="accent1"/>
                </a:solidFill>
                <a:latin typeface="Cambria" pitchFamily="34" charset="0"/>
                <a:ea typeface="Cambria" pitchFamily="34" charset="-122"/>
                <a:cs typeface="Cambria" pitchFamily="34" charset="-120"/>
              </a:rPr>
              <a:t>3</a:t>
            </a:r>
            <a:endParaRPr lang="en-US" sz="3600" dirty="0"/>
          </a:p>
        </p:txBody>
      </p:sp>
      <p:sp>
        <p:nvSpPr>
          <p:cNvPr id="10" name="Stat label 2"/>
          <p:cNvSpPr txBox="1"/>
          <p:nvPr/>
        </p:nvSpPr>
        <p:spPr>
          <a:xfrm>
            <a:off x="7315200" y="2377440"/>
            <a:ext cx="1325880" cy="1005840"/>
          </a:xfrm>
          <a:prstGeom prst="rect">
            <a:avLst/>
          </a:prstGeom>
          <a:noFill/>
          <a:ln/>
        </p:spPr>
        <p:txBody>
          <a:bodyPr wrap="square" lIns="0" tIns="0" rIns="0" bIns="0" rtlCol="0" anchor="ctr"/>
          <a:lstStyle/>
          <a:p>
            <a:pPr marL="0" indent="0">
              <a:buNone/>
            </a:pPr>
            <a:r>
              <a:rPr lang="en-US" sz="1400" b="1" dirty="0">
                <a:solidFill>
                  <a:schemeClr val="tx2"/>
                </a:solidFill>
              </a:rPr>
              <a:t>XOR gates</a:t>
            </a:r>
            <a:endParaRPr lang="en-US" sz="1400" dirty="0"/>
          </a:p>
          <a:p>
            <a:pPr marL="0" indent="0">
              <a:buNone/>
            </a:pPr>
            <a:r>
              <a:rPr lang="en-US" sz="1200" dirty="0">
                <a:solidFill>
                  <a:schemeClr val="tx1"/>
                </a:solidFill>
              </a:rPr>
              <a:t>one per changing bit</a:t>
            </a:r>
            <a:endParaRPr lang="en-US" sz="1400" dirty="0"/>
          </a:p>
        </p:txBody>
      </p:sp>
      <p:sp>
        <p:nvSpPr>
          <p:cNvPr id="11" name="Stat card 3"/>
          <p:cNvSpPr/>
          <p:nvPr/>
        </p:nvSpPr>
        <p:spPr>
          <a:xfrm>
            <a:off x="6492240" y="3566160"/>
            <a:ext cx="2194560" cy="1005840"/>
          </a:xfrm>
          <a:prstGeom prst="roundRect">
            <a:avLst>
              <a:gd name="adj" fmla="val 9091"/>
            </a:avLst>
          </a:prstGeom>
          <a:solidFill>
            <a:schemeClr val="bg2"/>
          </a:solidFill>
          <a:ln/>
        </p:spPr>
        <p:txBody>
          <a:bodyPr/>
          <a:lstStyle/>
          <a:p>
            <a:endParaRPr lang="en-IN"/>
          </a:p>
        </p:txBody>
      </p:sp>
      <p:sp>
        <p:nvSpPr>
          <p:cNvPr id="12" name="Stat number 3"/>
          <p:cNvSpPr txBox="1"/>
          <p:nvPr/>
        </p:nvSpPr>
        <p:spPr>
          <a:xfrm>
            <a:off x="6583680" y="3566160"/>
            <a:ext cx="731520" cy="1005840"/>
          </a:xfrm>
          <a:prstGeom prst="rect">
            <a:avLst/>
          </a:prstGeom>
          <a:noFill/>
          <a:ln/>
        </p:spPr>
        <p:txBody>
          <a:bodyPr wrap="square" lIns="0" tIns="0" rIns="0" bIns="0" rtlCol="0" anchor="ctr"/>
          <a:lstStyle/>
          <a:p>
            <a:pPr marL="0" indent="0" algn="ctr">
              <a:buNone/>
            </a:pPr>
            <a:r>
              <a:rPr lang="en-US" sz="3600" b="1" dirty="0">
                <a:solidFill>
                  <a:schemeClr val="accent1"/>
                </a:solidFill>
                <a:latin typeface="Cambria" pitchFamily="34" charset="0"/>
                <a:ea typeface="Cambria" pitchFamily="34" charset="-122"/>
                <a:cs typeface="Cambria" pitchFamily="34" charset="-120"/>
              </a:rPr>
              <a:t>4</a:t>
            </a:r>
            <a:endParaRPr lang="en-US" sz="3600" dirty="0"/>
          </a:p>
        </p:txBody>
      </p:sp>
      <p:sp>
        <p:nvSpPr>
          <p:cNvPr id="13" name="Stat label 3"/>
          <p:cNvSpPr txBox="1"/>
          <p:nvPr/>
        </p:nvSpPr>
        <p:spPr>
          <a:xfrm>
            <a:off x="7315200" y="3566160"/>
            <a:ext cx="1325880" cy="1005840"/>
          </a:xfrm>
          <a:prstGeom prst="rect">
            <a:avLst/>
          </a:prstGeom>
          <a:noFill/>
          <a:ln/>
        </p:spPr>
        <p:txBody>
          <a:bodyPr wrap="square" lIns="0" tIns="0" rIns="0" bIns="0" rtlCol="0" anchor="ctr"/>
          <a:lstStyle/>
          <a:p>
            <a:pPr marL="0" indent="0">
              <a:buNone/>
            </a:pPr>
            <a:r>
              <a:rPr lang="en-US" sz="1400" b="1" dirty="0">
                <a:solidFill>
                  <a:schemeClr val="tx2"/>
                </a:solidFill>
              </a:rPr>
              <a:t>Output pins</a:t>
            </a:r>
            <a:endParaRPr lang="en-US" sz="1400" dirty="0"/>
          </a:p>
          <a:p>
            <a:pPr marL="0" indent="0">
              <a:buNone/>
            </a:pPr>
            <a:r>
              <a:rPr lang="en-US" sz="1200" dirty="0">
                <a:solidFill>
                  <a:schemeClr val="tx1"/>
                </a:solidFill>
              </a:rPr>
              <a:t>G3 to G0</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How It Works: 1011 to 1110</a:t>
            </a:r>
            <a:endParaRPr lang="en-US" sz="3400" dirty="0"/>
          </a:p>
        </p:txBody>
      </p:sp>
      <p:sp>
        <p:nvSpPr>
          <p:cNvPr id="3" name="Row label Binary input"/>
          <p:cNvSpPr txBox="1"/>
          <p:nvPr/>
        </p:nvSpPr>
        <p:spPr>
          <a:xfrm>
            <a:off x="457200" y="1463040"/>
            <a:ext cx="1234440" cy="731520"/>
          </a:xfrm>
          <a:prstGeom prst="rect">
            <a:avLst/>
          </a:prstGeom>
          <a:noFill/>
          <a:ln/>
        </p:spPr>
        <p:txBody>
          <a:bodyPr wrap="square" lIns="0" tIns="0" rIns="0" bIns="0" rtlCol="0" anchor="ctr"/>
          <a:lstStyle/>
          <a:p>
            <a:pPr marL="0" indent="0">
              <a:buNone/>
            </a:pPr>
            <a:r>
              <a:rPr lang="en-US" sz="1400" b="1" dirty="0">
                <a:solidFill>
                  <a:schemeClr val="tx2"/>
                </a:solidFill>
              </a:rPr>
              <a:t>Binary input</a:t>
            </a:r>
            <a:endParaRPr lang="en-US" sz="1400" dirty="0"/>
          </a:p>
        </p:txBody>
      </p:sp>
      <p:sp>
        <p:nvSpPr>
          <p:cNvPr id="4" name="Row label XOR operation"/>
          <p:cNvSpPr txBox="1"/>
          <p:nvPr/>
        </p:nvSpPr>
        <p:spPr>
          <a:xfrm>
            <a:off x="457200" y="2560320"/>
            <a:ext cx="1234440" cy="731520"/>
          </a:xfrm>
          <a:prstGeom prst="rect">
            <a:avLst/>
          </a:prstGeom>
          <a:noFill/>
          <a:ln/>
        </p:spPr>
        <p:txBody>
          <a:bodyPr wrap="square" lIns="0" tIns="0" rIns="0" bIns="0" rtlCol="0" anchor="ctr"/>
          <a:lstStyle/>
          <a:p>
            <a:pPr marL="0" indent="0">
              <a:buNone/>
            </a:pPr>
            <a:r>
              <a:rPr lang="en-US" sz="1400" b="1" dirty="0">
                <a:solidFill>
                  <a:schemeClr val="tx2"/>
                </a:solidFill>
              </a:rPr>
              <a:t>XOR operation</a:t>
            </a:r>
            <a:endParaRPr lang="en-US" sz="1400" dirty="0"/>
          </a:p>
        </p:txBody>
      </p:sp>
      <p:sp>
        <p:nvSpPr>
          <p:cNvPr id="5" name="Row label Gray output"/>
          <p:cNvSpPr txBox="1"/>
          <p:nvPr/>
        </p:nvSpPr>
        <p:spPr>
          <a:xfrm>
            <a:off x="457200" y="3749040"/>
            <a:ext cx="1234440" cy="731520"/>
          </a:xfrm>
          <a:prstGeom prst="rect">
            <a:avLst/>
          </a:prstGeom>
          <a:noFill/>
          <a:ln/>
        </p:spPr>
        <p:txBody>
          <a:bodyPr wrap="square" lIns="0" tIns="0" rIns="0" bIns="0" rtlCol="0" anchor="ctr"/>
          <a:lstStyle/>
          <a:p>
            <a:pPr marL="0" indent="0">
              <a:buNone/>
            </a:pPr>
            <a:r>
              <a:rPr lang="en-US" sz="1400" b="1" dirty="0">
                <a:solidFill>
                  <a:schemeClr val="tx2"/>
                </a:solidFill>
              </a:rPr>
              <a:t>Gray output</a:t>
            </a:r>
            <a:endParaRPr lang="en-US" sz="1400" dirty="0"/>
          </a:p>
        </p:txBody>
      </p:sp>
      <p:sp>
        <p:nvSpPr>
          <p:cNvPr id="6" name="Binary caption 0"/>
          <p:cNvSpPr txBox="1"/>
          <p:nvPr/>
        </p:nvSpPr>
        <p:spPr>
          <a:xfrm>
            <a:off x="1783080" y="1188720"/>
            <a:ext cx="1371600" cy="256032"/>
          </a:xfrm>
          <a:prstGeom prst="rect">
            <a:avLst/>
          </a:prstGeom>
          <a:noFill/>
          <a:ln/>
        </p:spPr>
        <p:txBody>
          <a:bodyPr wrap="square" lIns="0" tIns="0" rIns="0" bIns="0" rtlCol="0" anchor="ctr"/>
          <a:lstStyle/>
          <a:p>
            <a:pPr marL="0" indent="0" algn="ctr">
              <a:buNone/>
            </a:pPr>
            <a:r>
              <a:rPr lang="en-US" sz="1200" dirty="0">
                <a:solidFill>
                  <a:schemeClr val="accent5"/>
                </a:solidFill>
              </a:rPr>
              <a:t>B3</a:t>
            </a:r>
            <a:endParaRPr lang="en-US" sz="1200" dirty="0"/>
          </a:p>
        </p:txBody>
      </p:sp>
      <p:sp>
        <p:nvSpPr>
          <p:cNvPr id="7" name="Binary box 0"/>
          <p:cNvSpPr/>
          <p:nvPr/>
        </p:nvSpPr>
        <p:spPr>
          <a:xfrm>
            <a:off x="1783080" y="1463040"/>
            <a:ext cx="1371600" cy="731520"/>
          </a:xfrm>
          <a:prstGeom prst="roundRect">
            <a:avLst>
              <a:gd name="adj" fmla="val 12500"/>
            </a:avLst>
          </a:prstGeom>
          <a:solidFill>
            <a:schemeClr val="bg2"/>
          </a:solidFill>
          <a:ln/>
        </p:spPr>
        <p:txBody>
          <a:bodyPr/>
          <a:lstStyle/>
          <a:p>
            <a:endParaRPr lang="en-IN"/>
          </a:p>
        </p:txBody>
      </p:sp>
      <p:sp>
        <p:nvSpPr>
          <p:cNvPr id="8" name="Binary bit 0"/>
          <p:cNvSpPr txBox="1"/>
          <p:nvPr/>
        </p:nvSpPr>
        <p:spPr>
          <a:xfrm>
            <a:off x="1783080" y="1463040"/>
            <a:ext cx="1371600" cy="731520"/>
          </a:xfrm>
          <a:prstGeom prst="rect">
            <a:avLst/>
          </a:prstGeom>
          <a:noFill/>
          <a:ln/>
        </p:spPr>
        <p:txBody>
          <a:bodyPr wrap="square" lIns="0" tIns="0" rIns="0" bIns="0" rtlCol="0" anchor="ctr"/>
          <a:lstStyle/>
          <a:p>
            <a:pPr marL="0" indent="0" algn="ctr">
              <a:buNone/>
            </a:pPr>
            <a:r>
              <a:rPr lang="en-US" sz="3000" b="1" dirty="0">
                <a:solidFill>
                  <a:schemeClr val="tx2"/>
                </a:solidFill>
                <a:latin typeface="Courier New" pitchFamily="34" charset="0"/>
                <a:ea typeface="Courier New" pitchFamily="34" charset="-122"/>
                <a:cs typeface="Courier New" pitchFamily="34" charset="-120"/>
              </a:rPr>
              <a:t>1</a:t>
            </a:r>
            <a:endParaRPr lang="en-US" sz="3000" dirty="0"/>
          </a:p>
        </p:txBody>
      </p:sp>
      <p:sp>
        <p:nvSpPr>
          <p:cNvPr id="9" name="Arrow in 0"/>
          <p:cNvSpPr/>
          <p:nvPr/>
        </p:nvSpPr>
        <p:spPr>
          <a:xfrm>
            <a:off x="2468880" y="2194560"/>
            <a:ext cx="0" cy="411480"/>
          </a:xfrm>
          <a:prstGeom prst="line">
            <a:avLst/>
          </a:prstGeom>
          <a:noFill/>
          <a:ln w="25400">
            <a:solidFill>
              <a:schemeClr val="accent5"/>
            </a:solidFill>
            <a:prstDash val="solid"/>
            <a:tailEnd type="triangle"/>
          </a:ln>
        </p:spPr>
        <p:txBody>
          <a:bodyPr/>
          <a:lstStyle/>
          <a:p>
            <a:endParaRPr lang="en-IN"/>
          </a:p>
        </p:txBody>
      </p:sp>
      <p:sp>
        <p:nvSpPr>
          <p:cNvPr id="10" name="Op chip 0"/>
          <p:cNvSpPr/>
          <p:nvPr/>
        </p:nvSpPr>
        <p:spPr>
          <a:xfrm>
            <a:off x="1783080" y="2606040"/>
            <a:ext cx="1371600" cy="640080"/>
          </a:xfrm>
          <a:prstGeom prst="roundRect">
            <a:avLst>
              <a:gd name="adj" fmla="val 50000"/>
            </a:avLst>
          </a:prstGeom>
          <a:solidFill>
            <a:schemeClr val="accent2"/>
          </a:solidFill>
          <a:ln/>
        </p:spPr>
        <p:txBody>
          <a:bodyPr/>
          <a:lstStyle/>
          <a:p>
            <a:endParaRPr lang="en-IN"/>
          </a:p>
        </p:txBody>
      </p:sp>
      <p:sp>
        <p:nvSpPr>
          <p:cNvPr id="11" name="Op text 0"/>
          <p:cNvSpPr txBox="1"/>
          <p:nvPr/>
        </p:nvSpPr>
        <p:spPr>
          <a:xfrm>
            <a:off x="1783080" y="2606040"/>
            <a:ext cx="1371600" cy="640080"/>
          </a:xfrm>
          <a:prstGeom prst="rect">
            <a:avLst/>
          </a:prstGeom>
          <a:noFill/>
          <a:ln/>
        </p:spPr>
        <p:txBody>
          <a:bodyPr wrap="square" lIns="0" tIns="0" rIns="0" bIns="0" rtlCol="0" anchor="ctr"/>
          <a:lstStyle/>
          <a:p>
            <a:pPr marL="0" indent="0" algn="ctr">
              <a:buNone/>
            </a:pPr>
            <a:r>
              <a:rPr lang="en-US" sz="1800" b="1" dirty="0">
                <a:solidFill>
                  <a:schemeClr val="tx2"/>
                </a:solidFill>
                <a:latin typeface="Courier New" pitchFamily="34" charset="0"/>
                <a:ea typeface="Courier New" pitchFamily="34" charset="-122"/>
                <a:cs typeface="Courier New" pitchFamily="34" charset="-120"/>
              </a:rPr>
              <a:t>copy</a:t>
            </a:r>
            <a:endParaRPr lang="en-US" sz="1800" dirty="0"/>
          </a:p>
        </p:txBody>
      </p:sp>
      <p:sp>
        <p:nvSpPr>
          <p:cNvPr id="12" name="Arrow out 0"/>
          <p:cNvSpPr/>
          <p:nvPr/>
        </p:nvSpPr>
        <p:spPr>
          <a:xfrm>
            <a:off x="2468880" y="3246120"/>
            <a:ext cx="0" cy="502920"/>
          </a:xfrm>
          <a:prstGeom prst="line">
            <a:avLst/>
          </a:prstGeom>
          <a:noFill/>
          <a:ln w="25400">
            <a:solidFill>
              <a:schemeClr val="accent5"/>
            </a:solidFill>
            <a:prstDash val="solid"/>
            <a:tailEnd type="triangle"/>
          </a:ln>
        </p:spPr>
        <p:txBody>
          <a:bodyPr/>
          <a:lstStyle/>
          <a:p>
            <a:endParaRPr lang="en-IN"/>
          </a:p>
        </p:txBody>
      </p:sp>
      <p:sp>
        <p:nvSpPr>
          <p:cNvPr id="13" name="Gray box 0"/>
          <p:cNvSpPr/>
          <p:nvPr/>
        </p:nvSpPr>
        <p:spPr>
          <a:xfrm>
            <a:off x="1783080" y="3749040"/>
            <a:ext cx="1371600" cy="731520"/>
          </a:xfrm>
          <a:prstGeom prst="roundRect">
            <a:avLst>
              <a:gd name="adj" fmla="val 12500"/>
            </a:avLst>
          </a:prstGeom>
          <a:solidFill>
            <a:schemeClr val="accent1"/>
          </a:solidFill>
          <a:ln/>
        </p:spPr>
        <p:txBody>
          <a:bodyPr/>
          <a:lstStyle/>
          <a:p>
            <a:endParaRPr lang="en-IN"/>
          </a:p>
        </p:txBody>
      </p:sp>
      <p:sp>
        <p:nvSpPr>
          <p:cNvPr id="14" name="Gray bit 0"/>
          <p:cNvSpPr txBox="1"/>
          <p:nvPr/>
        </p:nvSpPr>
        <p:spPr>
          <a:xfrm>
            <a:off x="1783080" y="3749040"/>
            <a:ext cx="1371600" cy="731520"/>
          </a:xfrm>
          <a:prstGeom prst="rect">
            <a:avLst/>
          </a:prstGeom>
          <a:noFill/>
          <a:ln/>
        </p:spPr>
        <p:txBody>
          <a:bodyPr wrap="square" lIns="0" tIns="0" rIns="0" bIns="0" rtlCol="0" anchor="ctr"/>
          <a:lstStyle/>
          <a:p>
            <a:pPr marL="0" indent="0" algn="ctr">
              <a:buNone/>
            </a:pPr>
            <a:r>
              <a:rPr lang="en-US" sz="3000" b="1" dirty="0">
                <a:solidFill>
                  <a:schemeClr val="bg1"/>
                </a:solidFill>
                <a:latin typeface="Courier New" pitchFamily="34" charset="0"/>
                <a:ea typeface="Courier New" pitchFamily="34" charset="-122"/>
                <a:cs typeface="Courier New" pitchFamily="34" charset="-120"/>
              </a:rPr>
              <a:t>1</a:t>
            </a:r>
            <a:endParaRPr lang="en-US" sz="3000" dirty="0"/>
          </a:p>
        </p:txBody>
      </p:sp>
      <p:sp>
        <p:nvSpPr>
          <p:cNvPr id="15" name="Gray caption 0"/>
          <p:cNvSpPr txBox="1"/>
          <p:nvPr/>
        </p:nvSpPr>
        <p:spPr>
          <a:xfrm>
            <a:off x="1783080" y="4507992"/>
            <a:ext cx="1371600" cy="256032"/>
          </a:xfrm>
          <a:prstGeom prst="rect">
            <a:avLst/>
          </a:prstGeom>
          <a:noFill/>
          <a:ln/>
        </p:spPr>
        <p:txBody>
          <a:bodyPr wrap="square" lIns="0" tIns="0" rIns="0" bIns="0" rtlCol="0" anchor="ctr"/>
          <a:lstStyle/>
          <a:p>
            <a:pPr marL="0" indent="0" algn="ctr">
              <a:buNone/>
            </a:pPr>
            <a:r>
              <a:rPr lang="en-US" sz="1200" dirty="0">
                <a:solidFill>
                  <a:schemeClr val="accent5"/>
                </a:solidFill>
              </a:rPr>
              <a:t>G3</a:t>
            </a:r>
            <a:endParaRPr lang="en-US" sz="1200" dirty="0"/>
          </a:p>
        </p:txBody>
      </p:sp>
      <p:sp>
        <p:nvSpPr>
          <p:cNvPr id="16" name="Binary caption 1"/>
          <p:cNvSpPr txBox="1"/>
          <p:nvPr/>
        </p:nvSpPr>
        <p:spPr>
          <a:xfrm>
            <a:off x="3429000" y="1188720"/>
            <a:ext cx="1371600" cy="256032"/>
          </a:xfrm>
          <a:prstGeom prst="rect">
            <a:avLst/>
          </a:prstGeom>
          <a:noFill/>
          <a:ln/>
        </p:spPr>
        <p:txBody>
          <a:bodyPr wrap="square" lIns="0" tIns="0" rIns="0" bIns="0" rtlCol="0" anchor="ctr"/>
          <a:lstStyle/>
          <a:p>
            <a:pPr marL="0" indent="0" algn="ctr">
              <a:buNone/>
            </a:pPr>
            <a:r>
              <a:rPr lang="en-US" sz="1200" dirty="0">
                <a:solidFill>
                  <a:schemeClr val="accent5"/>
                </a:solidFill>
              </a:rPr>
              <a:t>B2</a:t>
            </a:r>
            <a:endParaRPr lang="en-US" sz="1200" dirty="0"/>
          </a:p>
        </p:txBody>
      </p:sp>
      <p:sp>
        <p:nvSpPr>
          <p:cNvPr id="17" name="Binary box 1"/>
          <p:cNvSpPr/>
          <p:nvPr/>
        </p:nvSpPr>
        <p:spPr>
          <a:xfrm>
            <a:off x="3429000" y="1463040"/>
            <a:ext cx="1371600" cy="731520"/>
          </a:xfrm>
          <a:prstGeom prst="roundRect">
            <a:avLst>
              <a:gd name="adj" fmla="val 12500"/>
            </a:avLst>
          </a:prstGeom>
          <a:solidFill>
            <a:schemeClr val="bg2"/>
          </a:solidFill>
          <a:ln/>
        </p:spPr>
        <p:txBody>
          <a:bodyPr/>
          <a:lstStyle/>
          <a:p>
            <a:endParaRPr lang="en-IN"/>
          </a:p>
        </p:txBody>
      </p:sp>
      <p:sp>
        <p:nvSpPr>
          <p:cNvPr id="18" name="Binary bit 1"/>
          <p:cNvSpPr txBox="1"/>
          <p:nvPr/>
        </p:nvSpPr>
        <p:spPr>
          <a:xfrm>
            <a:off x="3429000" y="1463040"/>
            <a:ext cx="1371600" cy="731520"/>
          </a:xfrm>
          <a:prstGeom prst="rect">
            <a:avLst/>
          </a:prstGeom>
          <a:noFill/>
          <a:ln/>
        </p:spPr>
        <p:txBody>
          <a:bodyPr wrap="square" lIns="0" tIns="0" rIns="0" bIns="0" rtlCol="0" anchor="ctr"/>
          <a:lstStyle/>
          <a:p>
            <a:pPr marL="0" indent="0" algn="ctr">
              <a:buNone/>
            </a:pPr>
            <a:r>
              <a:rPr lang="en-US" sz="3000" b="1" dirty="0">
                <a:solidFill>
                  <a:schemeClr val="tx2"/>
                </a:solidFill>
                <a:latin typeface="Courier New" pitchFamily="34" charset="0"/>
                <a:ea typeface="Courier New" pitchFamily="34" charset="-122"/>
                <a:cs typeface="Courier New" pitchFamily="34" charset="-120"/>
              </a:rPr>
              <a:t>0</a:t>
            </a:r>
            <a:endParaRPr lang="en-US" sz="3000" dirty="0"/>
          </a:p>
        </p:txBody>
      </p:sp>
      <p:sp>
        <p:nvSpPr>
          <p:cNvPr id="19" name="Arrow in 1"/>
          <p:cNvSpPr/>
          <p:nvPr/>
        </p:nvSpPr>
        <p:spPr>
          <a:xfrm>
            <a:off x="4114800" y="2194560"/>
            <a:ext cx="0" cy="411480"/>
          </a:xfrm>
          <a:prstGeom prst="line">
            <a:avLst/>
          </a:prstGeom>
          <a:noFill/>
          <a:ln w="25400">
            <a:solidFill>
              <a:schemeClr val="accent5"/>
            </a:solidFill>
            <a:prstDash val="solid"/>
            <a:tailEnd type="triangle"/>
          </a:ln>
        </p:spPr>
        <p:txBody>
          <a:bodyPr/>
          <a:lstStyle/>
          <a:p>
            <a:endParaRPr lang="en-IN"/>
          </a:p>
        </p:txBody>
      </p:sp>
      <p:sp>
        <p:nvSpPr>
          <p:cNvPr id="20" name="Op chip 1"/>
          <p:cNvSpPr/>
          <p:nvPr/>
        </p:nvSpPr>
        <p:spPr>
          <a:xfrm>
            <a:off x="3429000" y="2606040"/>
            <a:ext cx="1371600" cy="640080"/>
          </a:xfrm>
          <a:prstGeom prst="roundRect">
            <a:avLst>
              <a:gd name="adj" fmla="val 50000"/>
            </a:avLst>
          </a:prstGeom>
          <a:solidFill>
            <a:schemeClr val="accent2"/>
          </a:solidFill>
          <a:ln/>
        </p:spPr>
        <p:txBody>
          <a:bodyPr/>
          <a:lstStyle/>
          <a:p>
            <a:endParaRPr lang="en-IN"/>
          </a:p>
        </p:txBody>
      </p:sp>
      <p:sp>
        <p:nvSpPr>
          <p:cNvPr id="21" name="Op text 1"/>
          <p:cNvSpPr txBox="1"/>
          <p:nvPr/>
        </p:nvSpPr>
        <p:spPr>
          <a:xfrm>
            <a:off x="3429000" y="2606040"/>
            <a:ext cx="1371600" cy="640080"/>
          </a:xfrm>
          <a:prstGeom prst="rect">
            <a:avLst/>
          </a:prstGeom>
          <a:noFill/>
          <a:ln/>
        </p:spPr>
        <p:txBody>
          <a:bodyPr wrap="square" lIns="0" tIns="0" rIns="0" bIns="0" rtlCol="0" anchor="ctr"/>
          <a:lstStyle/>
          <a:p>
            <a:pPr marL="0" indent="0" algn="ctr">
              <a:buNone/>
            </a:pPr>
            <a:r>
              <a:rPr lang="en-US" sz="1800" b="1" dirty="0">
                <a:solidFill>
                  <a:schemeClr val="tx2"/>
                </a:solidFill>
                <a:latin typeface="Courier New" pitchFamily="34" charset="0"/>
                <a:ea typeface="Courier New" pitchFamily="34" charset="-122"/>
                <a:cs typeface="Courier New" pitchFamily="34" charset="-120"/>
              </a:rPr>
              <a:t>1 ⊕ 0</a:t>
            </a:r>
            <a:endParaRPr lang="en-US" sz="1800" dirty="0"/>
          </a:p>
        </p:txBody>
      </p:sp>
      <p:sp>
        <p:nvSpPr>
          <p:cNvPr id="22" name="Arrow out 1"/>
          <p:cNvSpPr/>
          <p:nvPr/>
        </p:nvSpPr>
        <p:spPr>
          <a:xfrm>
            <a:off x="4114800" y="3246120"/>
            <a:ext cx="0" cy="502920"/>
          </a:xfrm>
          <a:prstGeom prst="line">
            <a:avLst/>
          </a:prstGeom>
          <a:noFill/>
          <a:ln w="25400">
            <a:solidFill>
              <a:schemeClr val="accent5"/>
            </a:solidFill>
            <a:prstDash val="solid"/>
            <a:tailEnd type="triangle"/>
          </a:ln>
        </p:spPr>
        <p:txBody>
          <a:bodyPr/>
          <a:lstStyle/>
          <a:p>
            <a:endParaRPr lang="en-IN"/>
          </a:p>
        </p:txBody>
      </p:sp>
      <p:sp>
        <p:nvSpPr>
          <p:cNvPr id="23" name="Gray box 1"/>
          <p:cNvSpPr/>
          <p:nvPr/>
        </p:nvSpPr>
        <p:spPr>
          <a:xfrm>
            <a:off x="3429000" y="3749040"/>
            <a:ext cx="1371600" cy="731520"/>
          </a:xfrm>
          <a:prstGeom prst="roundRect">
            <a:avLst>
              <a:gd name="adj" fmla="val 12500"/>
            </a:avLst>
          </a:prstGeom>
          <a:solidFill>
            <a:schemeClr val="accent1"/>
          </a:solidFill>
          <a:ln/>
        </p:spPr>
        <p:txBody>
          <a:bodyPr/>
          <a:lstStyle/>
          <a:p>
            <a:endParaRPr lang="en-IN"/>
          </a:p>
        </p:txBody>
      </p:sp>
      <p:sp>
        <p:nvSpPr>
          <p:cNvPr id="24" name="Gray bit 1"/>
          <p:cNvSpPr txBox="1"/>
          <p:nvPr/>
        </p:nvSpPr>
        <p:spPr>
          <a:xfrm>
            <a:off x="3429000" y="3749040"/>
            <a:ext cx="1371600" cy="731520"/>
          </a:xfrm>
          <a:prstGeom prst="rect">
            <a:avLst/>
          </a:prstGeom>
          <a:noFill/>
          <a:ln/>
        </p:spPr>
        <p:txBody>
          <a:bodyPr wrap="square" lIns="0" tIns="0" rIns="0" bIns="0" rtlCol="0" anchor="ctr"/>
          <a:lstStyle/>
          <a:p>
            <a:pPr marL="0" indent="0" algn="ctr">
              <a:buNone/>
            </a:pPr>
            <a:r>
              <a:rPr lang="en-US" sz="3000" b="1" dirty="0">
                <a:solidFill>
                  <a:schemeClr val="bg1"/>
                </a:solidFill>
                <a:latin typeface="Courier New" pitchFamily="34" charset="0"/>
                <a:ea typeface="Courier New" pitchFamily="34" charset="-122"/>
                <a:cs typeface="Courier New" pitchFamily="34" charset="-120"/>
              </a:rPr>
              <a:t>1</a:t>
            </a:r>
            <a:endParaRPr lang="en-US" sz="3000" dirty="0"/>
          </a:p>
        </p:txBody>
      </p:sp>
      <p:sp>
        <p:nvSpPr>
          <p:cNvPr id="25" name="Gray caption 1"/>
          <p:cNvSpPr txBox="1"/>
          <p:nvPr/>
        </p:nvSpPr>
        <p:spPr>
          <a:xfrm>
            <a:off x="3429000" y="4507992"/>
            <a:ext cx="1371600" cy="256032"/>
          </a:xfrm>
          <a:prstGeom prst="rect">
            <a:avLst/>
          </a:prstGeom>
          <a:noFill/>
          <a:ln/>
        </p:spPr>
        <p:txBody>
          <a:bodyPr wrap="square" lIns="0" tIns="0" rIns="0" bIns="0" rtlCol="0" anchor="ctr"/>
          <a:lstStyle/>
          <a:p>
            <a:pPr marL="0" indent="0" algn="ctr">
              <a:buNone/>
            </a:pPr>
            <a:r>
              <a:rPr lang="en-US" sz="1200" dirty="0">
                <a:solidFill>
                  <a:schemeClr val="accent5"/>
                </a:solidFill>
              </a:rPr>
              <a:t>G2</a:t>
            </a:r>
            <a:endParaRPr lang="en-US" sz="1200" dirty="0"/>
          </a:p>
        </p:txBody>
      </p:sp>
      <p:sp>
        <p:nvSpPr>
          <p:cNvPr id="26" name="Binary caption 2"/>
          <p:cNvSpPr txBox="1"/>
          <p:nvPr/>
        </p:nvSpPr>
        <p:spPr>
          <a:xfrm>
            <a:off x="5074920" y="1188720"/>
            <a:ext cx="1371600" cy="256032"/>
          </a:xfrm>
          <a:prstGeom prst="rect">
            <a:avLst/>
          </a:prstGeom>
          <a:noFill/>
          <a:ln/>
        </p:spPr>
        <p:txBody>
          <a:bodyPr wrap="square" lIns="0" tIns="0" rIns="0" bIns="0" rtlCol="0" anchor="ctr"/>
          <a:lstStyle/>
          <a:p>
            <a:pPr marL="0" indent="0" algn="ctr">
              <a:buNone/>
            </a:pPr>
            <a:r>
              <a:rPr lang="en-US" sz="1200" dirty="0">
                <a:solidFill>
                  <a:schemeClr val="accent5"/>
                </a:solidFill>
              </a:rPr>
              <a:t>B1</a:t>
            </a:r>
            <a:endParaRPr lang="en-US" sz="1200" dirty="0"/>
          </a:p>
        </p:txBody>
      </p:sp>
      <p:sp>
        <p:nvSpPr>
          <p:cNvPr id="27" name="Binary box 2"/>
          <p:cNvSpPr/>
          <p:nvPr/>
        </p:nvSpPr>
        <p:spPr>
          <a:xfrm>
            <a:off x="5074920" y="1463040"/>
            <a:ext cx="1371600" cy="731520"/>
          </a:xfrm>
          <a:prstGeom prst="roundRect">
            <a:avLst>
              <a:gd name="adj" fmla="val 12500"/>
            </a:avLst>
          </a:prstGeom>
          <a:solidFill>
            <a:schemeClr val="bg2"/>
          </a:solidFill>
          <a:ln/>
        </p:spPr>
        <p:txBody>
          <a:bodyPr/>
          <a:lstStyle/>
          <a:p>
            <a:endParaRPr lang="en-IN"/>
          </a:p>
        </p:txBody>
      </p:sp>
      <p:sp>
        <p:nvSpPr>
          <p:cNvPr id="28" name="Binary bit 2"/>
          <p:cNvSpPr txBox="1"/>
          <p:nvPr/>
        </p:nvSpPr>
        <p:spPr>
          <a:xfrm>
            <a:off x="5074920" y="1463040"/>
            <a:ext cx="1371600" cy="731520"/>
          </a:xfrm>
          <a:prstGeom prst="rect">
            <a:avLst/>
          </a:prstGeom>
          <a:noFill/>
          <a:ln/>
        </p:spPr>
        <p:txBody>
          <a:bodyPr wrap="square" lIns="0" tIns="0" rIns="0" bIns="0" rtlCol="0" anchor="ctr"/>
          <a:lstStyle/>
          <a:p>
            <a:pPr marL="0" indent="0" algn="ctr">
              <a:buNone/>
            </a:pPr>
            <a:r>
              <a:rPr lang="en-US" sz="3000" b="1" dirty="0">
                <a:solidFill>
                  <a:schemeClr val="tx2"/>
                </a:solidFill>
                <a:latin typeface="Courier New" pitchFamily="34" charset="0"/>
                <a:ea typeface="Courier New" pitchFamily="34" charset="-122"/>
                <a:cs typeface="Courier New" pitchFamily="34" charset="-120"/>
              </a:rPr>
              <a:t>1</a:t>
            </a:r>
            <a:endParaRPr lang="en-US" sz="3000" dirty="0"/>
          </a:p>
        </p:txBody>
      </p:sp>
      <p:sp>
        <p:nvSpPr>
          <p:cNvPr id="29" name="Arrow in 2"/>
          <p:cNvSpPr/>
          <p:nvPr/>
        </p:nvSpPr>
        <p:spPr>
          <a:xfrm>
            <a:off x="5760720" y="2194560"/>
            <a:ext cx="0" cy="411480"/>
          </a:xfrm>
          <a:prstGeom prst="line">
            <a:avLst/>
          </a:prstGeom>
          <a:noFill/>
          <a:ln w="25400">
            <a:solidFill>
              <a:schemeClr val="accent5"/>
            </a:solidFill>
            <a:prstDash val="solid"/>
            <a:tailEnd type="triangle"/>
          </a:ln>
        </p:spPr>
        <p:txBody>
          <a:bodyPr/>
          <a:lstStyle/>
          <a:p>
            <a:endParaRPr lang="en-IN"/>
          </a:p>
        </p:txBody>
      </p:sp>
      <p:sp>
        <p:nvSpPr>
          <p:cNvPr id="30" name="Op chip 2"/>
          <p:cNvSpPr/>
          <p:nvPr/>
        </p:nvSpPr>
        <p:spPr>
          <a:xfrm>
            <a:off x="5074920" y="2606040"/>
            <a:ext cx="1371600" cy="640080"/>
          </a:xfrm>
          <a:prstGeom prst="roundRect">
            <a:avLst>
              <a:gd name="adj" fmla="val 50000"/>
            </a:avLst>
          </a:prstGeom>
          <a:solidFill>
            <a:schemeClr val="accent2"/>
          </a:solidFill>
          <a:ln/>
        </p:spPr>
        <p:txBody>
          <a:bodyPr/>
          <a:lstStyle/>
          <a:p>
            <a:endParaRPr lang="en-IN"/>
          </a:p>
        </p:txBody>
      </p:sp>
      <p:sp>
        <p:nvSpPr>
          <p:cNvPr id="31" name="Op text 2"/>
          <p:cNvSpPr txBox="1"/>
          <p:nvPr/>
        </p:nvSpPr>
        <p:spPr>
          <a:xfrm>
            <a:off x="5074920" y="2606040"/>
            <a:ext cx="1371600" cy="640080"/>
          </a:xfrm>
          <a:prstGeom prst="rect">
            <a:avLst/>
          </a:prstGeom>
          <a:noFill/>
          <a:ln/>
        </p:spPr>
        <p:txBody>
          <a:bodyPr wrap="square" lIns="0" tIns="0" rIns="0" bIns="0" rtlCol="0" anchor="ctr"/>
          <a:lstStyle/>
          <a:p>
            <a:pPr marL="0" indent="0" algn="ctr">
              <a:buNone/>
            </a:pPr>
            <a:r>
              <a:rPr lang="en-US" sz="1800" b="1" dirty="0">
                <a:solidFill>
                  <a:schemeClr val="tx2"/>
                </a:solidFill>
                <a:latin typeface="Courier New" pitchFamily="34" charset="0"/>
                <a:ea typeface="Courier New" pitchFamily="34" charset="-122"/>
                <a:cs typeface="Courier New" pitchFamily="34" charset="-120"/>
              </a:rPr>
              <a:t>0 ⊕ 1</a:t>
            </a:r>
            <a:endParaRPr lang="en-US" sz="1800" dirty="0"/>
          </a:p>
        </p:txBody>
      </p:sp>
      <p:sp>
        <p:nvSpPr>
          <p:cNvPr id="32" name="Arrow out 2"/>
          <p:cNvSpPr/>
          <p:nvPr/>
        </p:nvSpPr>
        <p:spPr>
          <a:xfrm>
            <a:off x="5760720" y="3246120"/>
            <a:ext cx="0" cy="502920"/>
          </a:xfrm>
          <a:prstGeom prst="line">
            <a:avLst/>
          </a:prstGeom>
          <a:noFill/>
          <a:ln w="25400">
            <a:solidFill>
              <a:schemeClr val="accent5"/>
            </a:solidFill>
            <a:prstDash val="solid"/>
            <a:tailEnd type="triangle"/>
          </a:ln>
        </p:spPr>
        <p:txBody>
          <a:bodyPr/>
          <a:lstStyle/>
          <a:p>
            <a:endParaRPr lang="en-IN"/>
          </a:p>
        </p:txBody>
      </p:sp>
      <p:sp>
        <p:nvSpPr>
          <p:cNvPr id="33" name="Gray box 2"/>
          <p:cNvSpPr/>
          <p:nvPr/>
        </p:nvSpPr>
        <p:spPr>
          <a:xfrm>
            <a:off x="5074920" y="3749040"/>
            <a:ext cx="1371600" cy="731520"/>
          </a:xfrm>
          <a:prstGeom prst="roundRect">
            <a:avLst>
              <a:gd name="adj" fmla="val 12500"/>
            </a:avLst>
          </a:prstGeom>
          <a:solidFill>
            <a:schemeClr val="accent1"/>
          </a:solidFill>
          <a:ln/>
        </p:spPr>
        <p:txBody>
          <a:bodyPr/>
          <a:lstStyle/>
          <a:p>
            <a:endParaRPr lang="en-IN"/>
          </a:p>
        </p:txBody>
      </p:sp>
      <p:sp>
        <p:nvSpPr>
          <p:cNvPr id="34" name="Gray bit 2"/>
          <p:cNvSpPr txBox="1"/>
          <p:nvPr/>
        </p:nvSpPr>
        <p:spPr>
          <a:xfrm>
            <a:off x="5074920" y="3749040"/>
            <a:ext cx="1371600" cy="731520"/>
          </a:xfrm>
          <a:prstGeom prst="rect">
            <a:avLst/>
          </a:prstGeom>
          <a:noFill/>
          <a:ln/>
        </p:spPr>
        <p:txBody>
          <a:bodyPr wrap="square" lIns="0" tIns="0" rIns="0" bIns="0" rtlCol="0" anchor="ctr"/>
          <a:lstStyle/>
          <a:p>
            <a:pPr marL="0" indent="0" algn="ctr">
              <a:buNone/>
            </a:pPr>
            <a:r>
              <a:rPr lang="en-US" sz="3000" b="1" dirty="0">
                <a:solidFill>
                  <a:schemeClr val="bg1"/>
                </a:solidFill>
                <a:latin typeface="Courier New" pitchFamily="34" charset="0"/>
                <a:ea typeface="Courier New" pitchFamily="34" charset="-122"/>
                <a:cs typeface="Courier New" pitchFamily="34" charset="-120"/>
              </a:rPr>
              <a:t>1</a:t>
            </a:r>
            <a:endParaRPr lang="en-US" sz="3000" dirty="0"/>
          </a:p>
        </p:txBody>
      </p:sp>
      <p:sp>
        <p:nvSpPr>
          <p:cNvPr id="35" name="Gray caption 2"/>
          <p:cNvSpPr txBox="1"/>
          <p:nvPr/>
        </p:nvSpPr>
        <p:spPr>
          <a:xfrm>
            <a:off x="5074920" y="4507992"/>
            <a:ext cx="1371600" cy="256032"/>
          </a:xfrm>
          <a:prstGeom prst="rect">
            <a:avLst/>
          </a:prstGeom>
          <a:noFill/>
          <a:ln/>
        </p:spPr>
        <p:txBody>
          <a:bodyPr wrap="square" lIns="0" tIns="0" rIns="0" bIns="0" rtlCol="0" anchor="ctr"/>
          <a:lstStyle/>
          <a:p>
            <a:pPr marL="0" indent="0" algn="ctr">
              <a:buNone/>
            </a:pPr>
            <a:r>
              <a:rPr lang="en-US" sz="1200" dirty="0">
                <a:solidFill>
                  <a:schemeClr val="accent5"/>
                </a:solidFill>
              </a:rPr>
              <a:t>G1</a:t>
            </a:r>
            <a:endParaRPr lang="en-US" sz="1200" dirty="0"/>
          </a:p>
        </p:txBody>
      </p:sp>
      <p:sp>
        <p:nvSpPr>
          <p:cNvPr id="36" name="Binary caption 3"/>
          <p:cNvSpPr txBox="1"/>
          <p:nvPr/>
        </p:nvSpPr>
        <p:spPr>
          <a:xfrm>
            <a:off x="6720840" y="1188720"/>
            <a:ext cx="1371600" cy="256032"/>
          </a:xfrm>
          <a:prstGeom prst="rect">
            <a:avLst/>
          </a:prstGeom>
          <a:noFill/>
          <a:ln/>
        </p:spPr>
        <p:txBody>
          <a:bodyPr wrap="square" lIns="0" tIns="0" rIns="0" bIns="0" rtlCol="0" anchor="ctr"/>
          <a:lstStyle/>
          <a:p>
            <a:pPr marL="0" indent="0" algn="ctr">
              <a:buNone/>
            </a:pPr>
            <a:r>
              <a:rPr lang="en-US" sz="1200" dirty="0">
                <a:solidFill>
                  <a:schemeClr val="accent5"/>
                </a:solidFill>
              </a:rPr>
              <a:t>B0</a:t>
            </a:r>
            <a:endParaRPr lang="en-US" sz="1200" dirty="0"/>
          </a:p>
        </p:txBody>
      </p:sp>
      <p:sp>
        <p:nvSpPr>
          <p:cNvPr id="37" name="Binary box 3"/>
          <p:cNvSpPr/>
          <p:nvPr/>
        </p:nvSpPr>
        <p:spPr>
          <a:xfrm>
            <a:off x="6720840" y="1463040"/>
            <a:ext cx="1371600" cy="731520"/>
          </a:xfrm>
          <a:prstGeom prst="roundRect">
            <a:avLst>
              <a:gd name="adj" fmla="val 12500"/>
            </a:avLst>
          </a:prstGeom>
          <a:solidFill>
            <a:schemeClr val="bg2"/>
          </a:solidFill>
          <a:ln/>
        </p:spPr>
        <p:txBody>
          <a:bodyPr/>
          <a:lstStyle/>
          <a:p>
            <a:endParaRPr lang="en-IN"/>
          </a:p>
        </p:txBody>
      </p:sp>
      <p:sp>
        <p:nvSpPr>
          <p:cNvPr id="38" name="Binary bit 3"/>
          <p:cNvSpPr txBox="1"/>
          <p:nvPr/>
        </p:nvSpPr>
        <p:spPr>
          <a:xfrm>
            <a:off x="6720840" y="1463040"/>
            <a:ext cx="1371600" cy="731520"/>
          </a:xfrm>
          <a:prstGeom prst="rect">
            <a:avLst/>
          </a:prstGeom>
          <a:noFill/>
          <a:ln/>
        </p:spPr>
        <p:txBody>
          <a:bodyPr wrap="square" lIns="0" tIns="0" rIns="0" bIns="0" rtlCol="0" anchor="ctr"/>
          <a:lstStyle/>
          <a:p>
            <a:pPr marL="0" indent="0" algn="ctr">
              <a:buNone/>
            </a:pPr>
            <a:r>
              <a:rPr lang="en-US" sz="3000" b="1" dirty="0">
                <a:solidFill>
                  <a:schemeClr val="tx2"/>
                </a:solidFill>
                <a:latin typeface="Courier New" pitchFamily="34" charset="0"/>
                <a:ea typeface="Courier New" pitchFamily="34" charset="-122"/>
                <a:cs typeface="Courier New" pitchFamily="34" charset="-120"/>
              </a:rPr>
              <a:t>1</a:t>
            </a:r>
            <a:endParaRPr lang="en-US" sz="3000" dirty="0"/>
          </a:p>
        </p:txBody>
      </p:sp>
      <p:sp>
        <p:nvSpPr>
          <p:cNvPr id="39" name="Arrow in 3"/>
          <p:cNvSpPr/>
          <p:nvPr/>
        </p:nvSpPr>
        <p:spPr>
          <a:xfrm>
            <a:off x="7406640" y="2194560"/>
            <a:ext cx="0" cy="411480"/>
          </a:xfrm>
          <a:prstGeom prst="line">
            <a:avLst/>
          </a:prstGeom>
          <a:noFill/>
          <a:ln w="25400">
            <a:solidFill>
              <a:schemeClr val="accent5"/>
            </a:solidFill>
            <a:prstDash val="solid"/>
            <a:tailEnd type="triangle"/>
          </a:ln>
        </p:spPr>
        <p:txBody>
          <a:bodyPr/>
          <a:lstStyle/>
          <a:p>
            <a:endParaRPr lang="en-IN"/>
          </a:p>
        </p:txBody>
      </p:sp>
      <p:sp>
        <p:nvSpPr>
          <p:cNvPr id="40" name="Op chip 3"/>
          <p:cNvSpPr/>
          <p:nvPr/>
        </p:nvSpPr>
        <p:spPr>
          <a:xfrm>
            <a:off x="6720840" y="2606040"/>
            <a:ext cx="1371600" cy="640080"/>
          </a:xfrm>
          <a:prstGeom prst="roundRect">
            <a:avLst>
              <a:gd name="adj" fmla="val 50000"/>
            </a:avLst>
          </a:prstGeom>
          <a:solidFill>
            <a:schemeClr val="accent2"/>
          </a:solidFill>
          <a:ln/>
        </p:spPr>
        <p:txBody>
          <a:bodyPr/>
          <a:lstStyle/>
          <a:p>
            <a:endParaRPr lang="en-IN"/>
          </a:p>
        </p:txBody>
      </p:sp>
      <p:sp>
        <p:nvSpPr>
          <p:cNvPr id="41" name="Op text 3"/>
          <p:cNvSpPr txBox="1"/>
          <p:nvPr/>
        </p:nvSpPr>
        <p:spPr>
          <a:xfrm>
            <a:off x="6720840" y="2606040"/>
            <a:ext cx="1371600" cy="640080"/>
          </a:xfrm>
          <a:prstGeom prst="rect">
            <a:avLst/>
          </a:prstGeom>
          <a:noFill/>
          <a:ln/>
        </p:spPr>
        <p:txBody>
          <a:bodyPr wrap="square" lIns="0" tIns="0" rIns="0" bIns="0" rtlCol="0" anchor="ctr"/>
          <a:lstStyle/>
          <a:p>
            <a:pPr marL="0" indent="0" algn="ctr">
              <a:buNone/>
            </a:pPr>
            <a:r>
              <a:rPr lang="en-US" sz="1800" b="1" dirty="0">
                <a:solidFill>
                  <a:schemeClr val="tx2"/>
                </a:solidFill>
                <a:latin typeface="Courier New" pitchFamily="34" charset="0"/>
                <a:ea typeface="Courier New" pitchFamily="34" charset="-122"/>
                <a:cs typeface="Courier New" pitchFamily="34" charset="-120"/>
              </a:rPr>
              <a:t>1 ⊕ 1</a:t>
            </a:r>
            <a:endParaRPr lang="en-US" sz="1800" dirty="0"/>
          </a:p>
        </p:txBody>
      </p:sp>
      <p:sp>
        <p:nvSpPr>
          <p:cNvPr id="42" name="Arrow out 3"/>
          <p:cNvSpPr/>
          <p:nvPr/>
        </p:nvSpPr>
        <p:spPr>
          <a:xfrm>
            <a:off x="7406640" y="3246120"/>
            <a:ext cx="0" cy="502920"/>
          </a:xfrm>
          <a:prstGeom prst="line">
            <a:avLst/>
          </a:prstGeom>
          <a:noFill/>
          <a:ln w="25400">
            <a:solidFill>
              <a:schemeClr val="accent5"/>
            </a:solidFill>
            <a:prstDash val="solid"/>
            <a:tailEnd type="triangle"/>
          </a:ln>
        </p:spPr>
        <p:txBody>
          <a:bodyPr/>
          <a:lstStyle/>
          <a:p>
            <a:endParaRPr lang="en-IN"/>
          </a:p>
        </p:txBody>
      </p:sp>
      <p:sp>
        <p:nvSpPr>
          <p:cNvPr id="43" name="Gray box 3"/>
          <p:cNvSpPr/>
          <p:nvPr/>
        </p:nvSpPr>
        <p:spPr>
          <a:xfrm>
            <a:off x="6720840" y="3749040"/>
            <a:ext cx="1371600" cy="731520"/>
          </a:xfrm>
          <a:prstGeom prst="roundRect">
            <a:avLst>
              <a:gd name="adj" fmla="val 12500"/>
            </a:avLst>
          </a:prstGeom>
          <a:solidFill>
            <a:schemeClr val="accent1"/>
          </a:solidFill>
          <a:ln/>
        </p:spPr>
        <p:txBody>
          <a:bodyPr/>
          <a:lstStyle/>
          <a:p>
            <a:endParaRPr lang="en-IN"/>
          </a:p>
        </p:txBody>
      </p:sp>
      <p:sp>
        <p:nvSpPr>
          <p:cNvPr id="44" name="Gray bit 3"/>
          <p:cNvSpPr txBox="1"/>
          <p:nvPr/>
        </p:nvSpPr>
        <p:spPr>
          <a:xfrm>
            <a:off x="6720840" y="3749040"/>
            <a:ext cx="1371600" cy="731520"/>
          </a:xfrm>
          <a:prstGeom prst="rect">
            <a:avLst/>
          </a:prstGeom>
          <a:noFill/>
          <a:ln/>
        </p:spPr>
        <p:txBody>
          <a:bodyPr wrap="square" lIns="0" tIns="0" rIns="0" bIns="0" rtlCol="0" anchor="ctr"/>
          <a:lstStyle/>
          <a:p>
            <a:pPr marL="0" indent="0" algn="ctr">
              <a:buNone/>
            </a:pPr>
            <a:r>
              <a:rPr lang="en-US" sz="3000" b="1" dirty="0">
                <a:solidFill>
                  <a:schemeClr val="bg1"/>
                </a:solidFill>
                <a:latin typeface="Courier New" pitchFamily="34" charset="0"/>
                <a:ea typeface="Courier New" pitchFamily="34" charset="-122"/>
                <a:cs typeface="Courier New" pitchFamily="34" charset="-120"/>
              </a:rPr>
              <a:t>0</a:t>
            </a:r>
            <a:endParaRPr lang="en-US" sz="3000" dirty="0"/>
          </a:p>
        </p:txBody>
      </p:sp>
      <p:sp>
        <p:nvSpPr>
          <p:cNvPr id="45" name="Gray caption 3"/>
          <p:cNvSpPr txBox="1"/>
          <p:nvPr/>
        </p:nvSpPr>
        <p:spPr>
          <a:xfrm>
            <a:off x="6720840" y="4507992"/>
            <a:ext cx="1371600" cy="256032"/>
          </a:xfrm>
          <a:prstGeom prst="rect">
            <a:avLst/>
          </a:prstGeom>
          <a:noFill/>
          <a:ln/>
        </p:spPr>
        <p:txBody>
          <a:bodyPr wrap="square" lIns="0" tIns="0" rIns="0" bIns="0" rtlCol="0" anchor="ctr"/>
          <a:lstStyle/>
          <a:p>
            <a:pPr marL="0" indent="0" algn="ctr">
              <a:buNone/>
            </a:pPr>
            <a:r>
              <a:rPr lang="en-US" sz="1200" dirty="0">
                <a:solidFill>
                  <a:schemeClr val="accent5"/>
                </a:solidFill>
              </a:rPr>
              <a:t>G0</a:t>
            </a:r>
            <a:endParaRPr lang="en-US" sz="1200" dirty="0"/>
          </a:p>
        </p:txBody>
      </p:sp>
      <p:sp>
        <p:nvSpPr>
          <p:cNvPr id="46"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Applications</a:t>
            </a:r>
            <a:endParaRPr lang="en-US" sz="3400" dirty="0"/>
          </a:p>
        </p:txBody>
      </p:sp>
      <p:sp>
        <p:nvSpPr>
          <p:cNvPr id="3" name="App card 1"/>
          <p:cNvSpPr/>
          <p:nvPr/>
        </p:nvSpPr>
        <p:spPr>
          <a:xfrm>
            <a:off x="457200" y="1188720"/>
            <a:ext cx="2606040" cy="1600200"/>
          </a:xfrm>
          <a:prstGeom prst="roundRect">
            <a:avLst>
              <a:gd name="adj" fmla="val 5714"/>
            </a:avLst>
          </a:prstGeom>
          <a:solidFill>
            <a:schemeClr val="bg2"/>
          </a:solidFill>
          <a:ln/>
        </p:spPr>
        <p:txBody>
          <a:bodyPr/>
          <a:lstStyle/>
          <a:p>
            <a:endParaRPr lang="en-IN"/>
          </a:p>
        </p:txBody>
      </p:sp>
      <p:sp>
        <p:nvSpPr>
          <p:cNvPr id="4" name="Icon circle 1"/>
          <p:cNvSpPr/>
          <p:nvPr/>
        </p:nvSpPr>
        <p:spPr>
          <a:xfrm>
            <a:off x="640080" y="1371600"/>
            <a:ext cx="502920" cy="502920"/>
          </a:xfrm>
          <a:prstGeom prst="ellipse">
            <a:avLst/>
          </a:prstGeom>
          <a:solidFill>
            <a:schemeClr val="accent1"/>
          </a:solidFill>
          <a:ln/>
        </p:spPr>
        <p:txBody>
          <a:bodyPr/>
          <a:lstStyle/>
          <a:p>
            <a:endParaRPr lang="en-IN"/>
          </a:p>
        </p:txBody>
      </p:sp>
      <p:pic>
        <p:nvPicPr>
          <p:cNvPr id="5" name="Icon 1" descr="Rotary Encoders icon"/>
          <p:cNvPicPr>
            <a:picLocks noChangeAspect="1"/>
          </p:cNvPicPr>
          <p:nvPr/>
        </p:nvPicPr>
        <p:blipFill>
          <a:blip r:embed="rId3"/>
          <a:stretch>
            <a:fillRect/>
          </a:stretch>
        </p:blipFill>
        <p:spPr>
          <a:xfrm>
            <a:off x="758952" y="1490472"/>
            <a:ext cx="265176" cy="265176"/>
          </a:xfrm>
          <a:prstGeom prst="rect">
            <a:avLst/>
          </a:prstGeom>
        </p:spPr>
      </p:pic>
      <p:sp>
        <p:nvSpPr>
          <p:cNvPr id="6" name="App title 1"/>
          <p:cNvSpPr txBox="1"/>
          <p:nvPr/>
        </p:nvSpPr>
        <p:spPr>
          <a:xfrm>
            <a:off x="1280160" y="1371600"/>
            <a:ext cx="1691640" cy="502920"/>
          </a:xfrm>
          <a:prstGeom prst="rect">
            <a:avLst/>
          </a:prstGeom>
          <a:noFill/>
          <a:ln/>
        </p:spPr>
        <p:txBody>
          <a:bodyPr wrap="square" lIns="0" tIns="0" rIns="0" bIns="0" rtlCol="0" anchor="ctr"/>
          <a:lstStyle/>
          <a:p>
            <a:pPr marL="0" indent="0">
              <a:buNone/>
            </a:pPr>
            <a:r>
              <a:rPr lang="en-US" sz="1600" b="1" dirty="0">
                <a:solidFill>
                  <a:schemeClr val="tx2"/>
                </a:solidFill>
              </a:rPr>
              <a:t>Rotary Encoders</a:t>
            </a:r>
            <a:endParaRPr lang="en-US" sz="1600" dirty="0"/>
          </a:p>
        </p:txBody>
      </p:sp>
      <p:sp>
        <p:nvSpPr>
          <p:cNvPr id="7" name="App text 1"/>
          <p:cNvSpPr txBox="1"/>
          <p:nvPr/>
        </p:nvSpPr>
        <p:spPr>
          <a:xfrm>
            <a:off x="640080" y="1965960"/>
            <a:ext cx="2286000" cy="731520"/>
          </a:xfrm>
          <a:prstGeom prst="rect">
            <a:avLst/>
          </a:prstGeom>
          <a:noFill/>
          <a:ln/>
        </p:spPr>
        <p:txBody>
          <a:bodyPr wrap="square" lIns="0" tIns="0" rIns="0" bIns="0" rtlCol="0" anchor="t"/>
          <a:lstStyle/>
          <a:p>
            <a:pPr marL="0" indent="0">
              <a:buNone/>
            </a:pPr>
            <a:r>
              <a:rPr lang="en-US" sz="1400" dirty="0">
                <a:solidFill>
                  <a:schemeClr val="tx1"/>
                </a:solidFill>
              </a:rPr>
              <a:t>Avoids false readings while a shaft moves between positions.</a:t>
            </a:r>
            <a:endParaRPr lang="en-US" sz="1400" dirty="0"/>
          </a:p>
        </p:txBody>
      </p:sp>
      <p:sp>
        <p:nvSpPr>
          <p:cNvPr id="8" name="App card 2"/>
          <p:cNvSpPr/>
          <p:nvPr/>
        </p:nvSpPr>
        <p:spPr>
          <a:xfrm>
            <a:off x="3268980" y="1188720"/>
            <a:ext cx="2606040" cy="1600200"/>
          </a:xfrm>
          <a:prstGeom prst="roundRect">
            <a:avLst>
              <a:gd name="adj" fmla="val 5714"/>
            </a:avLst>
          </a:prstGeom>
          <a:solidFill>
            <a:schemeClr val="bg2"/>
          </a:solidFill>
          <a:ln/>
        </p:spPr>
        <p:txBody>
          <a:bodyPr/>
          <a:lstStyle/>
          <a:p>
            <a:endParaRPr lang="en-IN"/>
          </a:p>
        </p:txBody>
      </p:sp>
      <p:sp>
        <p:nvSpPr>
          <p:cNvPr id="9" name="Icon circle 2"/>
          <p:cNvSpPr/>
          <p:nvPr/>
        </p:nvSpPr>
        <p:spPr>
          <a:xfrm>
            <a:off x="3451860" y="1371600"/>
            <a:ext cx="502920" cy="502920"/>
          </a:xfrm>
          <a:prstGeom prst="ellipse">
            <a:avLst/>
          </a:prstGeom>
          <a:solidFill>
            <a:schemeClr val="accent1"/>
          </a:solidFill>
          <a:ln/>
        </p:spPr>
        <p:txBody>
          <a:bodyPr/>
          <a:lstStyle/>
          <a:p>
            <a:endParaRPr lang="en-IN"/>
          </a:p>
        </p:txBody>
      </p:sp>
      <p:pic>
        <p:nvPicPr>
          <p:cNvPr id="10" name="Icon 2" descr="Karnaugh Maps icon"/>
          <p:cNvPicPr>
            <a:picLocks noChangeAspect="1"/>
          </p:cNvPicPr>
          <p:nvPr/>
        </p:nvPicPr>
        <p:blipFill>
          <a:blip r:embed="rId4"/>
          <a:stretch>
            <a:fillRect/>
          </a:stretch>
        </p:blipFill>
        <p:spPr>
          <a:xfrm>
            <a:off x="3570732" y="1490472"/>
            <a:ext cx="265176" cy="265176"/>
          </a:xfrm>
          <a:prstGeom prst="rect">
            <a:avLst/>
          </a:prstGeom>
        </p:spPr>
      </p:pic>
      <p:sp>
        <p:nvSpPr>
          <p:cNvPr id="11" name="App title 2"/>
          <p:cNvSpPr txBox="1"/>
          <p:nvPr/>
        </p:nvSpPr>
        <p:spPr>
          <a:xfrm>
            <a:off x="4091940" y="1371600"/>
            <a:ext cx="1691640" cy="502920"/>
          </a:xfrm>
          <a:prstGeom prst="rect">
            <a:avLst/>
          </a:prstGeom>
          <a:noFill/>
          <a:ln/>
        </p:spPr>
        <p:txBody>
          <a:bodyPr wrap="square" lIns="0" tIns="0" rIns="0" bIns="0" rtlCol="0" anchor="ctr"/>
          <a:lstStyle/>
          <a:p>
            <a:pPr marL="0" indent="0">
              <a:buNone/>
            </a:pPr>
            <a:r>
              <a:rPr lang="en-US" sz="1600" b="1" dirty="0">
                <a:solidFill>
                  <a:schemeClr val="tx2"/>
                </a:solidFill>
              </a:rPr>
              <a:t>Karnaugh Maps</a:t>
            </a:r>
            <a:endParaRPr lang="en-US" sz="1600" dirty="0"/>
          </a:p>
        </p:txBody>
      </p:sp>
      <p:sp>
        <p:nvSpPr>
          <p:cNvPr id="12" name="App text 2"/>
          <p:cNvSpPr txBox="1"/>
          <p:nvPr/>
        </p:nvSpPr>
        <p:spPr>
          <a:xfrm>
            <a:off x="3451860" y="1965960"/>
            <a:ext cx="2286000" cy="731520"/>
          </a:xfrm>
          <a:prstGeom prst="rect">
            <a:avLst/>
          </a:prstGeom>
          <a:noFill/>
          <a:ln/>
        </p:spPr>
        <p:txBody>
          <a:bodyPr wrap="square" lIns="0" tIns="0" rIns="0" bIns="0" rtlCol="0" anchor="t"/>
          <a:lstStyle/>
          <a:p>
            <a:pPr marL="0" indent="0">
              <a:buNone/>
            </a:pPr>
            <a:r>
              <a:rPr lang="en-US" sz="1400" dirty="0">
                <a:solidFill>
                  <a:schemeClr val="tx1"/>
                </a:solidFill>
              </a:rPr>
              <a:t>Adjacent cells differ by one bit, easing logic simplification.</a:t>
            </a:r>
            <a:endParaRPr lang="en-US" sz="1400" dirty="0"/>
          </a:p>
        </p:txBody>
      </p:sp>
      <p:sp>
        <p:nvSpPr>
          <p:cNvPr id="13" name="App card 3"/>
          <p:cNvSpPr/>
          <p:nvPr/>
        </p:nvSpPr>
        <p:spPr>
          <a:xfrm>
            <a:off x="6080760" y="1188720"/>
            <a:ext cx="2606040" cy="1600200"/>
          </a:xfrm>
          <a:prstGeom prst="roundRect">
            <a:avLst>
              <a:gd name="adj" fmla="val 5714"/>
            </a:avLst>
          </a:prstGeom>
          <a:solidFill>
            <a:schemeClr val="bg2"/>
          </a:solidFill>
          <a:ln/>
        </p:spPr>
        <p:txBody>
          <a:bodyPr/>
          <a:lstStyle/>
          <a:p>
            <a:endParaRPr lang="en-IN"/>
          </a:p>
        </p:txBody>
      </p:sp>
      <p:sp>
        <p:nvSpPr>
          <p:cNvPr id="14" name="Icon circle 3"/>
          <p:cNvSpPr/>
          <p:nvPr/>
        </p:nvSpPr>
        <p:spPr>
          <a:xfrm>
            <a:off x="6263640" y="1371600"/>
            <a:ext cx="502920" cy="502920"/>
          </a:xfrm>
          <a:prstGeom prst="ellipse">
            <a:avLst/>
          </a:prstGeom>
          <a:solidFill>
            <a:schemeClr val="accent1"/>
          </a:solidFill>
          <a:ln/>
        </p:spPr>
        <p:txBody>
          <a:bodyPr/>
          <a:lstStyle/>
          <a:p>
            <a:endParaRPr lang="en-IN"/>
          </a:p>
        </p:txBody>
      </p:sp>
      <p:pic>
        <p:nvPicPr>
          <p:cNvPr id="15" name="Icon 3" descr="ADC and Comms icon"/>
          <p:cNvPicPr>
            <a:picLocks noChangeAspect="1"/>
          </p:cNvPicPr>
          <p:nvPr/>
        </p:nvPicPr>
        <p:blipFill>
          <a:blip r:embed="rId5"/>
          <a:stretch>
            <a:fillRect/>
          </a:stretch>
        </p:blipFill>
        <p:spPr>
          <a:xfrm>
            <a:off x="6382512" y="1490472"/>
            <a:ext cx="265176" cy="265176"/>
          </a:xfrm>
          <a:prstGeom prst="rect">
            <a:avLst/>
          </a:prstGeom>
        </p:spPr>
      </p:pic>
      <p:sp>
        <p:nvSpPr>
          <p:cNvPr id="16" name="App title 3"/>
          <p:cNvSpPr txBox="1"/>
          <p:nvPr/>
        </p:nvSpPr>
        <p:spPr>
          <a:xfrm>
            <a:off x="6903720" y="1371600"/>
            <a:ext cx="1691640" cy="502920"/>
          </a:xfrm>
          <a:prstGeom prst="rect">
            <a:avLst/>
          </a:prstGeom>
          <a:noFill/>
          <a:ln/>
        </p:spPr>
        <p:txBody>
          <a:bodyPr wrap="square" lIns="0" tIns="0" rIns="0" bIns="0" rtlCol="0" anchor="ctr"/>
          <a:lstStyle/>
          <a:p>
            <a:pPr marL="0" indent="0">
              <a:buNone/>
            </a:pPr>
            <a:r>
              <a:rPr lang="en-US" sz="1600" b="1" dirty="0">
                <a:solidFill>
                  <a:schemeClr val="tx2"/>
                </a:solidFill>
              </a:rPr>
              <a:t>ADC and Comms</a:t>
            </a:r>
            <a:endParaRPr lang="en-US" sz="1600" dirty="0"/>
          </a:p>
        </p:txBody>
      </p:sp>
      <p:sp>
        <p:nvSpPr>
          <p:cNvPr id="17" name="App text 3"/>
          <p:cNvSpPr txBox="1"/>
          <p:nvPr/>
        </p:nvSpPr>
        <p:spPr>
          <a:xfrm>
            <a:off x="6263640" y="1965960"/>
            <a:ext cx="2286000" cy="731520"/>
          </a:xfrm>
          <a:prstGeom prst="rect">
            <a:avLst/>
          </a:prstGeom>
          <a:noFill/>
          <a:ln/>
        </p:spPr>
        <p:txBody>
          <a:bodyPr wrap="square" lIns="0" tIns="0" rIns="0" bIns="0" rtlCol="0" anchor="t"/>
          <a:lstStyle/>
          <a:p>
            <a:pPr marL="0" indent="0">
              <a:buNone/>
            </a:pPr>
            <a:r>
              <a:rPr lang="en-US" sz="1400" dirty="0">
                <a:solidFill>
                  <a:schemeClr val="tx1"/>
                </a:solidFill>
              </a:rPr>
              <a:t>One-bit steps reduce glitches in converters and links.</a:t>
            </a:r>
            <a:endParaRPr lang="en-US" sz="1400" dirty="0"/>
          </a:p>
        </p:txBody>
      </p:sp>
      <p:sp>
        <p:nvSpPr>
          <p:cNvPr id="18" name="App card 4"/>
          <p:cNvSpPr/>
          <p:nvPr/>
        </p:nvSpPr>
        <p:spPr>
          <a:xfrm>
            <a:off x="457200" y="2971800"/>
            <a:ext cx="2606040" cy="1600200"/>
          </a:xfrm>
          <a:prstGeom prst="roundRect">
            <a:avLst>
              <a:gd name="adj" fmla="val 5714"/>
            </a:avLst>
          </a:prstGeom>
          <a:solidFill>
            <a:schemeClr val="bg2"/>
          </a:solidFill>
          <a:ln/>
        </p:spPr>
        <p:txBody>
          <a:bodyPr/>
          <a:lstStyle/>
          <a:p>
            <a:endParaRPr lang="en-IN"/>
          </a:p>
        </p:txBody>
      </p:sp>
      <p:sp>
        <p:nvSpPr>
          <p:cNvPr id="19" name="Icon circle 4"/>
          <p:cNvSpPr/>
          <p:nvPr/>
        </p:nvSpPr>
        <p:spPr>
          <a:xfrm>
            <a:off x="640080" y="3154680"/>
            <a:ext cx="502920" cy="502920"/>
          </a:xfrm>
          <a:prstGeom prst="ellipse">
            <a:avLst/>
          </a:prstGeom>
          <a:solidFill>
            <a:schemeClr val="accent1"/>
          </a:solidFill>
          <a:ln/>
        </p:spPr>
        <p:txBody>
          <a:bodyPr/>
          <a:lstStyle/>
          <a:p>
            <a:endParaRPr lang="en-IN"/>
          </a:p>
        </p:txBody>
      </p:sp>
      <p:pic>
        <p:nvPicPr>
          <p:cNvPr id="20" name="Icon 4" descr="Counters and FIFOs icon"/>
          <p:cNvPicPr>
            <a:picLocks noChangeAspect="1"/>
          </p:cNvPicPr>
          <p:nvPr/>
        </p:nvPicPr>
        <p:blipFill>
          <a:blip r:embed="rId6"/>
          <a:stretch>
            <a:fillRect/>
          </a:stretch>
        </p:blipFill>
        <p:spPr>
          <a:xfrm>
            <a:off x="758952" y="3273552"/>
            <a:ext cx="265176" cy="265176"/>
          </a:xfrm>
          <a:prstGeom prst="rect">
            <a:avLst/>
          </a:prstGeom>
        </p:spPr>
      </p:pic>
      <p:sp>
        <p:nvSpPr>
          <p:cNvPr id="21" name="App title 4"/>
          <p:cNvSpPr txBox="1"/>
          <p:nvPr/>
        </p:nvSpPr>
        <p:spPr>
          <a:xfrm>
            <a:off x="1280160" y="3154680"/>
            <a:ext cx="1691640" cy="502920"/>
          </a:xfrm>
          <a:prstGeom prst="rect">
            <a:avLst/>
          </a:prstGeom>
          <a:noFill/>
          <a:ln/>
        </p:spPr>
        <p:txBody>
          <a:bodyPr wrap="square" lIns="0" tIns="0" rIns="0" bIns="0" rtlCol="0" anchor="ctr"/>
          <a:lstStyle/>
          <a:p>
            <a:pPr marL="0" indent="0">
              <a:buNone/>
            </a:pPr>
            <a:r>
              <a:rPr lang="en-US" sz="1600" b="1" dirty="0">
                <a:solidFill>
                  <a:schemeClr val="tx2"/>
                </a:solidFill>
              </a:rPr>
              <a:t>Counters and FIFOs</a:t>
            </a:r>
            <a:endParaRPr lang="en-US" sz="1600" dirty="0"/>
          </a:p>
        </p:txBody>
      </p:sp>
      <p:sp>
        <p:nvSpPr>
          <p:cNvPr id="22" name="App text 4"/>
          <p:cNvSpPr txBox="1"/>
          <p:nvPr/>
        </p:nvSpPr>
        <p:spPr>
          <a:xfrm>
            <a:off x="640080" y="3749040"/>
            <a:ext cx="2286000" cy="731520"/>
          </a:xfrm>
          <a:prstGeom prst="rect">
            <a:avLst/>
          </a:prstGeom>
          <a:noFill/>
          <a:ln/>
        </p:spPr>
        <p:txBody>
          <a:bodyPr wrap="square" lIns="0" tIns="0" rIns="0" bIns="0" rtlCol="0" anchor="t"/>
          <a:lstStyle/>
          <a:p>
            <a:pPr marL="0" indent="0">
              <a:buNone/>
            </a:pPr>
            <a:r>
              <a:rPr lang="en-US" sz="1400" dirty="0">
                <a:solidFill>
                  <a:schemeClr val="tx1"/>
                </a:solidFill>
              </a:rPr>
              <a:t>Safe pointer passing between clock domains.</a:t>
            </a:r>
            <a:endParaRPr lang="en-US" sz="1400" dirty="0"/>
          </a:p>
        </p:txBody>
      </p:sp>
      <p:sp>
        <p:nvSpPr>
          <p:cNvPr id="23" name="App card 5"/>
          <p:cNvSpPr/>
          <p:nvPr/>
        </p:nvSpPr>
        <p:spPr>
          <a:xfrm>
            <a:off x="3268980" y="2971800"/>
            <a:ext cx="2606040" cy="1600200"/>
          </a:xfrm>
          <a:prstGeom prst="roundRect">
            <a:avLst>
              <a:gd name="adj" fmla="val 5714"/>
            </a:avLst>
          </a:prstGeom>
          <a:solidFill>
            <a:schemeClr val="bg2"/>
          </a:solidFill>
          <a:ln/>
        </p:spPr>
        <p:txBody>
          <a:bodyPr/>
          <a:lstStyle/>
          <a:p>
            <a:endParaRPr lang="en-IN"/>
          </a:p>
        </p:txBody>
      </p:sp>
      <p:sp>
        <p:nvSpPr>
          <p:cNvPr id="24" name="Icon circle 5"/>
          <p:cNvSpPr/>
          <p:nvPr/>
        </p:nvSpPr>
        <p:spPr>
          <a:xfrm>
            <a:off x="3451860" y="3154680"/>
            <a:ext cx="502920" cy="502920"/>
          </a:xfrm>
          <a:prstGeom prst="ellipse">
            <a:avLst/>
          </a:prstGeom>
          <a:solidFill>
            <a:schemeClr val="accent1"/>
          </a:solidFill>
          <a:ln/>
        </p:spPr>
        <p:txBody>
          <a:bodyPr/>
          <a:lstStyle/>
          <a:p>
            <a:endParaRPr lang="en-IN"/>
          </a:p>
        </p:txBody>
      </p:sp>
      <p:pic>
        <p:nvPicPr>
          <p:cNvPr id="25" name="Icon 5" descr="Position Sensors icon"/>
          <p:cNvPicPr>
            <a:picLocks noChangeAspect="1"/>
          </p:cNvPicPr>
          <p:nvPr/>
        </p:nvPicPr>
        <p:blipFill>
          <a:blip r:embed="rId7"/>
          <a:stretch>
            <a:fillRect/>
          </a:stretch>
        </p:blipFill>
        <p:spPr>
          <a:xfrm>
            <a:off x="3570732" y="3273552"/>
            <a:ext cx="265176" cy="265176"/>
          </a:xfrm>
          <a:prstGeom prst="rect">
            <a:avLst/>
          </a:prstGeom>
        </p:spPr>
      </p:pic>
      <p:sp>
        <p:nvSpPr>
          <p:cNvPr id="26" name="App title 5"/>
          <p:cNvSpPr txBox="1"/>
          <p:nvPr/>
        </p:nvSpPr>
        <p:spPr>
          <a:xfrm>
            <a:off x="4091940" y="3154680"/>
            <a:ext cx="1691640" cy="502920"/>
          </a:xfrm>
          <a:prstGeom prst="rect">
            <a:avLst/>
          </a:prstGeom>
          <a:noFill/>
          <a:ln/>
        </p:spPr>
        <p:txBody>
          <a:bodyPr wrap="square" lIns="0" tIns="0" rIns="0" bIns="0" rtlCol="0" anchor="ctr"/>
          <a:lstStyle/>
          <a:p>
            <a:pPr marL="0" indent="0">
              <a:buNone/>
            </a:pPr>
            <a:r>
              <a:rPr lang="en-US" sz="1600" b="1" dirty="0">
                <a:solidFill>
                  <a:schemeClr val="tx2"/>
                </a:solidFill>
              </a:rPr>
              <a:t>Position Sensors</a:t>
            </a:r>
            <a:endParaRPr lang="en-US" sz="1600" dirty="0"/>
          </a:p>
        </p:txBody>
      </p:sp>
      <p:sp>
        <p:nvSpPr>
          <p:cNvPr id="27" name="App text 5"/>
          <p:cNvSpPr txBox="1"/>
          <p:nvPr/>
        </p:nvSpPr>
        <p:spPr>
          <a:xfrm>
            <a:off x="3451860" y="3749040"/>
            <a:ext cx="2286000" cy="731520"/>
          </a:xfrm>
          <a:prstGeom prst="rect">
            <a:avLst/>
          </a:prstGeom>
          <a:noFill/>
          <a:ln/>
        </p:spPr>
        <p:txBody>
          <a:bodyPr wrap="square" lIns="0" tIns="0" rIns="0" bIns="0" rtlCol="0" anchor="t"/>
          <a:lstStyle/>
          <a:p>
            <a:pPr marL="0" indent="0">
              <a:buNone/>
            </a:pPr>
            <a:r>
              <a:rPr lang="en-US" sz="1400" dirty="0">
                <a:solidFill>
                  <a:schemeClr val="tx1"/>
                </a:solidFill>
              </a:rPr>
              <a:t>Absolute angle reading on optical or magnetic discs.</a:t>
            </a:r>
            <a:endParaRPr lang="en-US" sz="1400" dirty="0"/>
          </a:p>
        </p:txBody>
      </p:sp>
      <p:sp>
        <p:nvSpPr>
          <p:cNvPr id="28" name="App card 6"/>
          <p:cNvSpPr/>
          <p:nvPr/>
        </p:nvSpPr>
        <p:spPr>
          <a:xfrm>
            <a:off x="6080760" y="2971800"/>
            <a:ext cx="2606040" cy="1600200"/>
          </a:xfrm>
          <a:prstGeom prst="roundRect">
            <a:avLst>
              <a:gd name="adj" fmla="val 5714"/>
            </a:avLst>
          </a:prstGeom>
          <a:solidFill>
            <a:schemeClr val="bg2"/>
          </a:solidFill>
          <a:ln/>
        </p:spPr>
        <p:txBody>
          <a:bodyPr/>
          <a:lstStyle/>
          <a:p>
            <a:endParaRPr lang="en-IN"/>
          </a:p>
        </p:txBody>
      </p:sp>
      <p:sp>
        <p:nvSpPr>
          <p:cNvPr id="29" name="Icon circle 6"/>
          <p:cNvSpPr/>
          <p:nvPr/>
        </p:nvSpPr>
        <p:spPr>
          <a:xfrm>
            <a:off x="6263640" y="3154680"/>
            <a:ext cx="502920" cy="502920"/>
          </a:xfrm>
          <a:prstGeom prst="ellipse">
            <a:avLst/>
          </a:prstGeom>
          <a:solidFill>
            <a:schemeClr val="accent1"/>
          </a:solidFill>
          <a:ln/>
        </p:spPr>
        <p:txBody>
          <a:bodyPr/>
          <a:lstStyle/>
          <a:p>
            <a:endParaRPr lang="en-IN"/>
          </a:p>
        </p:txBody>
      </p:sp>
      <p:pic>
        <p:nvPicPr>
          <p:cNvPr id="30" name="Icon 6" descr="Genetic Algorithms icon"/>
          <p:cNvPicPr>
            <a:picLocks noChangeAspect="1"/>
          </p:cNvPicPr>
          <p:nvPr/>
        </p:nvPicPr>
        <p:blipFill>
          <a:blip r:embed="rId8"/>
          <a:stretch>
            <a:fillRect/>
          </a:stretch>
        </p:blipFill>
        <p:spPr>
          <a:xfrm>
            <a:off x="6382512" y="3273552"/>
            <a:ext cx="265176" cy="265176"/>
          </a:xfrm>
          <a:prstGeom prst="rect">
            <a:avLst/>
          </a:prstGeom>
        </p:spPr>
      </p:pic>
      <p:sp>
        <p:nvSpPr>
          <p:cNvPr id="31" name="App title 6"/>
          <p:cNvSpPr txBox="1"/>
          <p:nvPr/>
        </p:nvSpPr>
        <p:spPr>
          <a:xfrm>
            <a:off x="6903720" y="3154680"/>
            <a:ext cx="1691640" cy="502920"/>
          </a:xfrm>
          <a:prstGeom prst="rect">
            <a:avLst/>
          </a:prstGeom>
          <a:noFill/>
          <a:ln/>
        </p:spPr>
        <p:txBody>
          <a:bodyPr wrap="square" lIns="0" tIns="0" rIns="0" bIns="0" rtlCol="0" anchor="ctr"/>
          <a:lstStyle/>
          <a:p>
            <a:pPr marL="0" indent="0">
              <a:buNone/>
            </a:pPr>
            <a:r>
              <a:rPr lang="en-US" sz="1600" b="1" dirty="0">
                <a:solidFill>
                  <a:schemeClr val="tx2"/>
                </a:solidFill>
              </a:rPr>
              <a:t>Genetic Algorithms</a:t>
            </a:r>
            <a:endParaRPr lang="en-US" sz="1600" dirty="0"/>
          </a:p>
        </p:txBody>
      </p:sp>
      <p:sp>
        <p:nvSpPr>
          <p:cNvPr id="32" name="App text 6"/>
          <p:cNvSpPr txBox="1"/>
          <p:nvPr/>
        </p:nvSpPr>
        <p:spPr>
          <a:xfrm>
            <a:off x="6263640" y="3749040"/>
            <a:ext cx="2286000" cy="731520"/>
          </a:xfrm>
          <a:prstGeom prst="rect">
            <a:avLst/>
          </a:prstGeom>
          <a:noFill/>
          <a:ln/>
        </p:spPr>
        <p:txBody>
          <a:bodyPr wrap="square" lIns="0" tIns="0" rIns="0" bIns="0" rtlCol="0" anchor="t"/>
          <a:lstStyle/>
          <a:p>
            <a:pPr marL="0" indent="0">
              <a:buNone/>
            </a:pPr>
            <a:r>
              <a:rPr lang="en-US" sz="1400" dirty="0">
                <a:solidFill>
                  <a:schemeClr val="tx1"/>
                </a:solidFill>
              </a:rPr>
              <a:t>Small gene changes cause small value changes.</a:t>
            </a:r>
            <a:endParaRPr lang="en-US" sz="1400" dirty="0"/>
          </a:p>
        </p:txBody>
      </p:sp>
      <p:sp>
        <p:nvSpPr>
          <p:cNvPr id="33"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7693282" cy="1554480"/>
          </a:xfrm>
          <a:prstGeom prst="rect">
            <a:avLst/>
          </a:prstGeom>
          <a:noFill/>
          <a:ln/>
        </p:spPr>
        <p:txBody>
          <a:bodyPr wrap="square" rtlCol="0" anchor="b"/>
          <a:lstStyle/>
          <a:p>
            <a:pPr marL="0" indent="0" algn="l">
              <a:buNone/>
            </a:pPr>
            <a:r>
              <a:rPr lang="en-US" sz="8000" b="1" dirty="0">
                <a:solidFill>
                  <a:schemeClr val="bg1"/>
                </a:solidFill>
                <a:latin typeface="Cambria" pitchFamily="34" charset="0"/>
                <a:ea typeface="Cambria" pitchFamily="34" charset="-122"/>
                <a:cs typeface="Cambria" pitchFamily="34" charset="-120"/>
              </a:rPr>
              <a:t>Thank You</a:t>
            </a:r>
            <a:endParaRPr lang="en-US" sz="8000" dirty="0"/>
          </a:p>
        </p:txBody>
      </p:sp>
      <p:sp>
        <p:nvSpPr>
          <p:cNvPr id="3" name="Text 0"/>
          <p:cNvSpPr>
            <a:spLocks noGrp="1"/>
          </p:cNvSpPr>
          <p:nvPr>
            <p:ph type="body" idx="101" hasCustomPrompt="1"/>
          </p:nvPr>
        </p:nvSpPr>
        <p:spPr>
          <a:xfrm>
            <a:off x="808693" y="3027248"/>
            <a:ext cx="4754880" cy="914400"/>
          </a:xfrm>
          <a:prstGeom prst="rect">
            <a:avLst/>
          </a:prstGeom>
          <a:noFill/>
          <a:ln/>
        </p:spPr>
        <p:txBody>
          <a:bodyPr wrap="square" rtlCol="0" anchor="t"/>
          <a:lstStyle/>
          <a:p>
            <a:pPr marL="0" indent="0" algn="l">
              <a:buNone/>
            </a:pPr>
            <a:r>
              <a:rPr lang="en-US" sz="1800" dirty="0">
                <a:solidFill>
                  <a:schemeClr val="accent3"/>
                </a:solidFill>
              </a:rPr>
              <a:t>Any questions?</a:t>
            </a:r>
            <a:endParaRPr lang="en-US" sz="1800" dirty="0"/>
          </a:p>
        </p:txBody>
      </p:sp>
    </p:spTree>
  </p:cSld>
  <p:clrMapOvr>
    <a:masterClrMapping/>
  </p:clrMapOvr>
</p:sld>
</file>

<file path=ppt/theme/theme1.xml><?xml version="1.0" encoding="utf-8"?>
<a:theme xmlns:a="http://schemas.openxmlformats.org/drawingml/2006/main" name="Gray Code">
  <a:themeElements>
    <a:clrScheme name="Gray Code">
      <a:dk1>
        <a:srgbClr val="17302F"/>
      </a:dk1>
      <a:lt1>
        <a:srgbClr val="FFFFFF"/>
      </a:lt1>
      <a:dk2>
        <a:srgbClr val="0F2A2E"/>
      </a:dk2>
      <a:lt2>
        <a:srgbClr val="EAF3F2"/>
      </a:lt2>
      <a:accent1>
        <a:srgbClr val="0E7C7B"/>
      </a:accent1>
      <a:accent2>
        <a:srgbClr val="F2A900"/>
      </a:accent2>
      <a:accent3>
        <a:srgbClr val="5FB3A9"/>
      </a:accent3>
      <a:accent4>
        <a:srgbClr val="C8553D"/>
      </a:accent4>
      <a:accent5>
        <a:srgbClr val="6B8E8F"/>
      </a:accent5>
      <a:accent6>
        <a:srgbClr val="2E4A4F"/>
      </a:accent6>
      <a:hlink>
        <a:srgbClr val="0E7C7B"/>
      </a:hlink>
      <a:folHlink>
        <a:srgbClr val="6B8E8F"/>
      </a:folHlink>
    </a:clrScheme>
    <a:fontScheme name="Gray Co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679</Words>
  <Application>Microsoft Office PowerPoint</Application>
  <PresentationFormat>On-screen Show (16:9)</PresentationFormat>
  <Paragraphs>184</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Gray Code</vt:lpstr>
      <vt:lpstr>Binary to Gray Code Converter</vt:lpstr>
      <vt:lpstr>What is Gray Code?</vt:lpstr>
      <vt:lpstr>Binary vs Gray Code</vt:lpstr>
      <vt:lpstr>Conversion Logic</vt:lpstr>
      <vt:lpstr>Circuit Design in Logisim</vt:lpstr>
      <vt:lpstr>How It Works: 1011 to 1110</vt:lpstr>
      <vt:lpstr>Applications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to Gray Code Converter</dc:title>
  <dc:subject>PptxGenJS Presentation</dc:subject>
  <dc:creator>PptxGenJS</dc:creator>
  <cp:lastModifiedBy>Vaishali Sharma Vootukuru</cp:lastModifiedBy>
  <cp:revision>2</cp:revision>
  <dcterms:created xsi:type="dcterms:W3CDTF">2026-10-14T16:11:58Z</dcterms:created>
  <dcterms:modified xsi:type="dcterms:W3CDTF">2026-10-14T17:20:41Z</dcterms:modified>
</cp:coreProperties>
</file>