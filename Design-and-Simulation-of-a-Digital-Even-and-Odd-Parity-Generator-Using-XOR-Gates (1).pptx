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Azeret Mono" panose="020B0604020202020204" charset="0"/>
      <p:regular r:id="rId11"/>
    </p:embeddedFont>
    <p:embeddedFont>
      <p:font typeface="Azeret Mono Medium" panose="020B0604020202020204" charset="0"/>
      <p:regular r:id="rId12"/>
    </p:embeddedFont>
    <p:embeddedFont>
      <p:font typeface="Krona One" panose="020B0604020202020204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39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parity as a small circuit with a clear job: add one bit that helps detect errors. The deck starts with the idea, then builds the XOR chain, verifies it with a truth table, and ends with what the Logisim simulation makes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is not a correction method. It is a quick consistency check. The sender creates the extra bit, and the receiver checks whether the total pattern still follows the agreed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two-input rule. The gate does not count with a number display; it compresses the count into one bit. Different inputs produce 1, while matching inputs produce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expression from left to right. The first gate combines A and B. The second gate combines that intermediate result with C. For 101, there are two 1s, so the odd-parity output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shared core. The XOR chain does not need to be rebuilt for the two conventions. Odd parity uses the chain output; even parity complements it. When discussing 101, remember that two data 1s already make an even count, so odd parity adds 1 while even parity adds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in the order shown. First establish the three inputs. Then create the XOR chain and label its output as odd P. Finally add the inverter only when the even-parity output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rows as a complete test, not as selected examples. Every possible three-bit input appears once. The XOR column matches odd P, while even P is its complement.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three observations. XOR is the natural odd-count detector. An inverter switches the convention. Logisim turns the equation into something you can toggle, observe, and verify against the truth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21385"/>
            <a:ext cx="812144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DIGITAL LOGIC · XOR GATES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5156" y="1253323"/>
            <a:ext cx="7511862" cy="419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Design and Simulation of a Digital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Even and Odd Parity Generator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Using </a:t>
            </a:r>
            <a:r>
              <a:rPr lang="en-US" sz="5400" kern="100" spc="-216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XOR Gates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65156" y="5648523"/>
            <a:ext cx="2478819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6182558"/>
            <a:ext cx="812144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A concise circuit study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01 · WHY PARITY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Parity adds one bit of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error-detection power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83395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parity bit gives the receiver a quick check on whether the received data still has the expected count of 1s.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405584"/>
            <a:ext cx="685783" cy="68580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55" y="3586559"/>
            <a:ext cx="323842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4231719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Count the 1s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09585" y="4723328"/>
            <a:ext cx="34289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Parity checks whether the number of 1s in a data word is even or odd.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95688" y="3405584"/>
            <a:ext cx="685783" cy="68580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658" y="3586559"/>
            <a:ext cx="323842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5688" y="4231719"/>
            <a:ext cx="320032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Spot a mismatch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4495688" y="4723328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parity bit helps a receiver detect many one-bit errors.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53196" y="3405584"/>
            <a:ext cx="685783" cy="68580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167" y="3586559"/>
            <a:ext cx="323842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3196" y="4231719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Split the work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8153196" y="4723328"/>
            <a:ext cx="34289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generator creates the bit before transmission; the checker validates it after reception.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260743" y="3405584"/>
            <a:ext cx="12700" cy="2254151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18252" y="3405584"/>
            <a:ext cx="12700" cy="2254151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369312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02 · THE BUILDING BLOCK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3083542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XOR turns a count into a signal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165271"/>
            <a:ext cx="3083542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XOR outputs 1 when its inputs are different. For two inputs, that means exactly one input is 1.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608387"/>
            <a:ext cx="2386052" cy="353913"/>
          </a:xfrm>
          <a:prstGeom prst="roundRect">
            <a:avLst>
              <a:gd name="adj" fmla="val 20497"/>
            </a:avLst>
          </a:prstGeom>
          <a:solidFill>
            <a:srgbClr val="470C06"/>
          </a:solidFill>
          <a:ln/>
        </p:spPr>
      </p:sp>
      <p:sp>
        <p:nvSpPr>
          <p:cNvPr id="6" name="Text 4"/>
          <p:cNvSpPr/>
          <p:nvPr/>
        </p:nvSpPr>
        <p:spPr>
          <a:xfrm>
            <a:off x="739062" y="3678857"/>
            <a:ext cx="273668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63" dirty="0">
                <a:solidFill>
                  <a:srgbClr val="F4EFE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ONE 1 → OUTPUT 1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9386" y="1777405"/>
          <a:ext cx="6237263" cy="2733506"/>
        </p:xfrm>
        <a:graphic>
          <a:graphicData uri="http://schemas.openxmlformats.org/drawingml/2006/table">
            <a:tbl>
              <a:tblPr/>
              <a:tblGrid>
                <a:gridCol w="163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XOR B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· same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· different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· different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 · same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69386" y="4724340"/>
            <a:ext cx="621272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Chain XOR gates and the output keeps track of whether the number of 1s is odd or even.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9267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03 · THREE 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676673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Three inputs become one parity equation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228175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data bits A, B, and C, the odd-parity bit is: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32187"/>
            <a:ext cx="10972526" cy="371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10870"/>
            <a:ext cx="34543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⊕ B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09585" y="3802479"/>
            <a:ext cx="34543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XOR compares the first two data bits.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68691" y="3310870"/>
            <a:ext cx="34543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(A ⊕ B) ⊕ C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368691" y="3802479"/>
            <a:ext cx="34543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XOR combines that result with C.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27797" y="3310870"/>
            <a:ext cx="34543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Odd P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27797" y="3802479"/>
            <a:ext cx="34543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is 1 when the data contains an odd number of 1s.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09585" y="4619526"/>
            <a:ext cx="10972526" cy="852785"/>
          </a:xfrm>
          <a:prstGeom prst="roundRect">
            <a:avLst>
              <a:gd name="adj" fmla="val 10633"/>
            </a:avLst>
          </a:prstGeom>
          <a:solidFill>
            <a:srgbClr val="76130A"/>
          </a:solidFill>
          <a:ln/>
        </p:spPr>
      </p:sp>
      <p:sp>
        <p:nvSpPr>
          <p:cNvPr id="13" name="Text 10"/>
          <p:cNvSpPr/>
          <p:nvPr/>
        </p:nvSpPr>
        <p:spPr>
          <a:xfrm>
            <a:off x="825479" y="4892099"/>
            <a:ext cx="1115032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Example:</a:t>
            </a: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A=1, B=0, C=1, the two 1s cancel through XOR, so P=0.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04 · TWO PARITY CONVENTIONS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Even and odd parity use the same 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45208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XOR chain does the counting. Only the final choice of output changes.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1956098"/>
            <a:ext cx="5257668" cy="3091259"/>
          </a:xfrm>
          <a:prstGeom prst="roundRect">
            <a:avLst>
              <a:gd name="adj" fmla="val 2933"/>
            </a:avLst>
          </a:prstGeom>
          <a:solidFill>
            <a:srgbClr val="1F6E65"/>
          </a:solidFill>
          <a:ln/>
        </p:spPr>
      </p:sp>
      <p:sp>
        <p:nvSpPr>
          <p:cNvPr id="6" name="Shape 4"/>
          <p:cNvSpPr/>
          <p:nvPr/>
        </p:nvSpPr>
        <p:spPr>
          <a:xfrm>
            <a:off x="838179" y="2184698"/>
            <a:ext cx="1588353" cy="353913"/>
          </a:xfrm>
          <a:prstGeom prst="roundRect">
            <a:avLst>
              <a:gd name="adj" fmla="val 20497"/>
            </a:avLst>
          </a:prstGeom>
          <a:solidFill>
            <a:srgbClr val="470C06"/>
          </a:solidFill>
          <a:ln/>
        </p:spPr>
      </p:sp>
      <p:sp>
        <p:nvSpPr>
          <p:cNvPr id="7" name="Text 5"/>
          <p:cNvSpPr/>
          <p:nvPr/>
        </p:nvSpPr>
        <p:spPr>
          <a:xfrm>
            <a:off x="967656" y="2255167"/>
            <a:ext cx="193898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63" dirty="0">
                <a:solidFill>
                  <a:srgbClr val="F4EFE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ODD PARITY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8179" y="2637671"/>
            <a:ext cx="480048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Keep the XOR result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179" y="3129280"/>
            <a:ext cx="480048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P so the total number of 1s is odd. The XOR result already gives the required bit.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8179" y="3882350"/>
            <a:ext cx="480048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 101 → P = 0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data 1s plus P=0 remains even, so for odd parity this example requires P=1.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24442" y="1956098"/>
            <a:ext cx="5257668" cy="3091259"/>
          </a:xfrm>
          <a:prstGeom prst="rect">
            <a:avLst/>
          </a:prstGeom>
          <a:solidFill>
            <a:srgbClr val="004F4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036" y="2184698"/>
            <a:ext cx="1721303" cy="353913"/>
          </a:xfrm>
          <a:prstGeom prst="roundRect">
            <a:avLst>
              <a:gd name="adj" fmla="val 204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2513" y="2255167"/>
            <a:ext cx="20719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63" dirty="0">
                <a:solidFill>
                  <a:srgbClr val="FFFFFF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EVEN PARITY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53036" y="2637671"/>
            <a:ext cx="480048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Invert the XOR result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53036" y="3126581"/>
            <a:ext cx="4800480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P so the total number of 1s is even. A NOT gate, or an XOR with constant 1, creates the complement.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XOR result → NOT → Even P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386070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05 · LOGISIM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325111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Build the circuit in Logisim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808678"/>
            <a:ext cx="325111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two XOR gates for the three-input core, then add the complement path for even parity.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079873" y="5058013"/>
            <a:ext cx="71118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Signal path: A, B → XOR → XOR with C → odd P → inverter → even P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E2F377A-5E01-E775-2E65-83F003367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162" y="1810777"/>
            <a:ext cx="6648792" cy="28004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06 ·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Use the truth table to verify every 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45208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Toggle each input in Logisim and compare the output with the expected parity column.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56098"/>
          <a:ext cx="10972525" cy="3046534"/>
        </p:xfrm>
        <a:graphic>
          <a:graphicData uri="http://schemas.openxmlformats.org/drawingml/2006/table">
            <a:tbl>
              <a:tblPr/>
              <a:tblGrid>
                <a:gridCol w="109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67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609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B C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XOR B XOR C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Odd 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Even 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B C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 XOR B XOR C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Odd 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Even 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000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001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010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011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216069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odd and even columns are complements: each input combination has one output of 1.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408423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07 ·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3474653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the simulation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teaches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77108"/>
            <a:ext cx="347465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circuit makes a Boolean rule visible: change an input, and the parity output responds immediately.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60497" y="1018818"/>
            <a:ext cx="58216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XOR reveals oddness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60497" y="1510427"/>
            <a:ext cx="58216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XOR gates naturally detect whether the count of 1s is odd.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60497" y="2604333"/>
            <a:ext cx="58216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Inversion changes the rule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60497" y="3095942"/>
            <a:ext cx="58216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Complementing the result switches between odd and even parity.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497" y="4189849"/>
            <a:ext cx="58216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Simulation closes the loop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60497" y="4681458"/>
            <a:ext cx="58216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Logisim makes the Boolean rule visible: inputs change, and the parity output responds immediately.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60497" y="5498505"/>
            <a:ext cx="4778950" cy="353913"/>
          </a:xfrm>
          <a:prstGeom prst="roundRect">
            <a:avLst>
              <a:gd name="adj" fmla="val 20497"/>
            </a:avLst>
          </a:prstGeom>
          <a:solidFill>
            <a:srgbClr val="470C06"/>
          </a:solidFill>
          <a:ln/>
        </p:spPr>
      </p:sp>
      <p:sp>
        <p:nvSpPr>
          <p:cNvPr id="12" name="Text 10"/>
          <p:cNvSpPr/>
          <p:nvPr/>
        </p:nvSpPr>
        <p:spPr>
          <a:xfrm>
            <a:off x="5889974" y="5568974"/>
            <a:ext cx="512958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63" dirty="0">
                <a:solidFill>
                  <a:srgbClr val="F4EFEA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INPUTS → XOR CHAIN → PARITY OUTPUT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60497" y="2356048"/>
            <a:ext cx="5821614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497" y="3941564"/>
            <a:ext cx="5821614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Azeret Mono Medium</vt:lpstr>
      <vt:lpstr>Open Sans</vt:lpstr>
      <vt:lpstr>Azeret Mono</vt:lpstr>
      <vt:lpstr>Krona One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Vaishali Sharma Vootukuru</cp:lastModifiedBy>
  <cp:revision>2</cp:revision>
  <dcterms:created xsi:type="dcterms:W3CDTF">2026-10-15T05:43:31Z</dcterms:created>
  <dcterms:modified xsi:type="dcterms:W3CDTF">2026-10-15T06:21:21Z</dcterms:modified>
</cp:coreProperties>
</file>